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 r:id="rId2"/>
    <p:sldId id="566" r:id="rId3"/>
    <p:sldId id="567" r:id="rId4"/>
    <p:sldId id="568" r:id="rId5"/>
    <p:sldId id="569" r:id="rId6"/>
    <p:sldId id="648" r:id="rId7"/>
    <p:sldId id="666" r:id="rId8"/>
    <p:sldId id="649" r:id="rId9"/>
    <p:sldId id="650" r:id="rId10"/>
    <p:sldId id="651" r:id="rId11"/>
    <p:sldId id="652" r:id="rId12"/>
    <p:sldId id="653" r:id="rId13"/>
    <p:sldId id="654" r:id="rId14"/>
    <p:sldId id="665" r:id="rId15"/>
    <p:sldId id="656" r:id="rId16"/>
    <p:sldId id="657" r:id="rId17"/>
    <p:sldId id="658" r:id="rId18"/>
    <p:sldId id="659" r:id="rId19"/>
    <p:sldId id="660" r:id="rId20"/>
    <p:sldId id="661" r:id="rId21"/>
    <p:sldId id="662" r:id="rId22"/>
    <p:sldId id="571" r:id="rId23"/>
    <p:sldId id="663"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66"/>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3701" autoAdjust="0"/>
  </p:normalViewPr>
  <p:slideViewPr>
    <p:cSldViewPr snapToGrid="0">
      <p:cViewPr varScale="1">
        <p:scale>
          <a:sx n="77" d="100"/>
          <a:sy n="77" d="100"/>
        </p:scale>
        <p:origin x="1646" y="67"/>
      </p:cViewPr>
      <p:guideLst/>
    </p:cSldViewPr>
  </p:slideViewPr>
  <p:notesTextViewPr>
    <p:cViewPr>
      <p:scale>
        <a:sx n="1" d="1"/>
        <a:sy n="1" d="1"/>
      </p:scale>
      <p:origin x="0" y="0"/>
    </p:cViewPr>
  </p:notesTextViewPr>
  <p:sorterViewPr>
    <p:cViewPr varScale="1">
      <p:scale>
        <a:sx n="100" d="100"/>
        <a:sy n="100" d="100"/>
      </p:scale>
      <p:origin x="0" y="-513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6DAEB0-71B9-45A8-8023-EB29BCC0E3F6}" type="datetimeFigureOut">
              <a:rPr lang="en-IN" smtClean="0"/>
              <a:t>14-Apr-2026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96A6E0-54B3-4F82-BCC5-63812BCE77EF}" type="slidenum">
              <a:rPr lang="en-IN" smtClean="0"/>
              <a:t>‹#›</a:t>
            </a:fld>
            <a:endParaRPr lang="en-IN"/>
          </a:p>
        </p:txBody>
      </p:sp>
    </p:spTree>
    <p:extLst>
      <p:ext uri="{BB962C8B-B14F-4D97-AF65-F5344CB8AC3E}">
        <p14:creationId xmlns:p14="http://schemas.microsoft.com/office/powerpoint/2010/main" val="2948607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4196A6E0-54B3-4F82-BCC5-63812BCE77EF}" type="slidenum">
              <a:rPr lang="en-IN" smtClean="0"/>
              <a:t>1</a:t>
            </a:fld>
            <a:endParaRPr lang="en-IN"/>
          </a:p>
        </p:txBody>
      </p:sp>
    </p:spTree>
    <p:extLst>
      <p:ext uri="{BB962C8B-B14F-4D97-AF65-F5344CB8AC3E}">
        <p14:creationId xmlns:p14="http://schemas.microsoft.com/office/powerpoint/2010/main" val="11098561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196A6E0-54B3-4F82-BCC5-63812BCE77EF}" type="slidenum">
              <a:rPr lang="en-IN" smtClean="0"/>
              <a:t>15</a:t>
            </a:fld>
            <a:endParaRPr lang="en-IN"/>
          </a:p>
        </p:txBody>
      </p:sp>
    </p:spTree>
    <p:extLst>
      <p:ext uri="{BB962C8B-B14F-4D97-AF65-F5344CB8AC3E}">
        <p14:creationId xmlns:p14="http://schemas.microsoft.com/office/powerpoint/2010/main" val="13494973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D9267E4-C52D-4DB2-9CA8-0B56124A9FC3}" type="slidenum">
              <a:rPr lang="en-IN" smtClean="0"/>
              <a:pPr/>
              <a:t>23</a:t>
            </a:fld>
            <a:endParaRPr lang="en-IN"/>
          </a:p>
        </p:txBody>
      </p:sp>
    </p:spTree>
    <p:extLst>
      <p:ext uri="{BB962C8B-B14F-4D97-AF65-F5344CB8AC3E}">
        <p14:creationId xmlns:p14="http://schemas.microsoft.com/office/powerpoint/2010/main" val="3266522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a:prstGeom prst="rect">
            <a:avLst/>
          </a:prstGeo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a:xfrm>
            <a:off x="628650" y="6639339"/>
            <a:ext cx="2057400" cy="227909"/>
          </a:xfrm>
          <a:prstGeom prst="rect">
            <a:avLst/>
          </a:prstGeom>
        </p:spPr>
        <p:txBody>
          <a:bodyPr/>
          <a:lstStyle>
            <a:lvl1pPr>
              <a:defRPr sz="1200" b="1">
                <a:solidFill>
                  <a:schemeClr val="bg1"/>
                </a:solidFill>
              </a:defRPr>
            </a:lvl1pPr>
          </a:lstStyle>
          <a:p>
            <a:fld id="{803A8B13-2D84-4CF8-A4DE-AA9E303C3B51}" type="datetime1">
              <a:rPr lang="en-IN" smtClean="0"/>
              <a:pPr/>
              <a:t>14-Apr-2026</a:t>
            </a:fld>
            <a:endParaRPr lang="en-IN" dirty="0"/>
          </a:p>
        </p:txBody>
      </p:sp>
      <p:sp>
        <p:nvSpPr>
          <p:cNvPr id="5" name="Footer Placeholder 4"/>
          <p:cNvSpPr>
            <a:spLocks noGrp="1"/>
          </p:cNvSpPr>
          <p:nvPr>
            <p:ph type="ftr" sz="quarter" idx="11"/>
          </p:nvPr>
        </p:nvSpPr>
        <p:spPr>
          <a:xfrm>
            <a:off x="3028950" y="6639339"/>
            <a:ext cx="3086100" cy="227909"/>
          </a:xfrm>
          <a:prstGeom prst="rect">
            <a:avLst/>
          </a:prstGeom>
        </p:spPr>
        <p:txBody>
          <a:bodyPr/>
          <a:lstStyle>
            <a:lvl1pPr algn="ctr">
              <a:defRPr sz="1200">
                <a:solidFill>
                  <a:schemeClr val="bg1"/>
                </a:solidFill>
              </a:defRPr>
            </a:lvl1pPr>
          </a:lstStyle>
          <a:p>
            <a:r>
              <a:rPr lang="en-US" b="1" dirty="0"/>
              <a:t>SREC-MECH</a:t>
            </a:r>
            <a:endParaRPr lang="en-IN" b="1" dirty="0"/>
          </a:p>
        </p:txBody>
      </p:sp>
      <p:sp>
        <p:nvSpPr>
          <p:cNvPr id="6" name="Slide Number Placeholder 5"/>
          <p:cNvSpPr>
            <a:spLocks noGrp="1"/>
          </p:cNvSpPr>
          <p:nvPr>
            <p:ph type="sldNum" sz="quarter" idx="12"/>
          </p:nvPr>
        </p:nvSpPr>
        <p:spPr>
          <a:xfrm>
            <a:off x="6457950" y="6626087"/>
            <a:ext cx="2057400" cy="227909"/>
          </a:xfrm>
          <a:prstGeom prst="rect">
            <a:avLst/>
          </a:prstGeom>
        </p:spPr>
        <p:txBody>
          <a:bodyPr/>
          <a:lstStyle>
            <a:lvl1pPr algn="r">
              <a:defRPr sz="1400" b="1">
                <a:solidFill>
                  <a:schemeClr val="bg1"/>
                </a:solidFill>
              </a:defRPr>
            </a:lvl1pPr>
          </a:lstStyle>
          <a:p>
            <a:r>
              <a:rPr lang="en-IN" dirty="0"/>
              <a:t>1</a:t>
            </a:r>
          </a:p>
        </p:txBody>
      </p:sp>
    </p:spTree>
    <p:extLst>
      <p:ext uri="{BB962C8B-B14F-4D97-AF65-F5344CB8AC3E}">
        <p14:creationId xmlns:p14="http://schemas.microsoft.com/office/powerpoint/2010/main" val="5326721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FECAB431-EEA5-4BBC-82AC-40F761174871}" type="datetime1">
              <a:rPr lang="en-US" smtClean="0"/>
              <a:pPr/>
              <a:t>4/14/2026</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33009814-85F0-44E2-AA29-54E28A9837B4}" type="slidenum">
              <a:rPr lang="en-IN" smtClean="0"/>
              <a:pPr/>
              <a:t>‹#›</a:t>
            </a:fld>
            <a:endParaRPr lang="en-IN"/>
          </a:p>
        </p:txBody>
      </p:sp>
    </p:spTree>
    <p:extLst>
      <p:ext uri="{BB962C8B-B14F-4D97-AF65-F5344CB8AC3E}">
        <p14:creationId xmlns:p14="http://schemas.microsoft.com/office/powerpoint/2010/main" val="18060210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userDrawn="1"/>
        </p:nvSpPr>
        <p:spPr>
          <a:xfrm>
            <a:off x="0" y="6691189"/>
            <a:ext cx="9138202" cy="170814"/>
          </a:xfrm>
          <a:prstGeom prst="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userDrawn="1"/>
        </p:nvSpPr>
        <p:spPr>
          <a:xfrm>
            <a:off x="0" y="0"/>
            <a:ext cx="185530" cy="6853996"/>
          </a:xfrm>
          <a:prstGeom prst="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userDrawn="1"/>
        </p:nvSpPr>
        <p:spPr>
          <a:xfrm>
            <a:off x="8958470" y="4004"/>
            <a:ext cx="185530" cy="6853996"/>
          </a:xfrm>
          <a:prstGeom prst="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userDrawn="1"/>
        </p:nvSpPr>
        <p:spPr>
          <a:xfrm>
            <a:off x="0" y="1"/>
            <a:ext cx="9138202" cy="132522"/>
          </a:xfrm>
          <a:prstGeom prst="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userDrawn="1"/>
        </p:nvSpPr>
        <p:spPr>
          <a:xfrm>
            <a:off x="5798" y="961646"/>
            <a:ext cx="9138202" cy="132522"/>
          </a:xfrm>
          <a:prstGeom prst="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p:cNvPicPr>
            <a:picLocks noChangeAspect="1"/>
          </p:cNvPicPr>
          <p:nvPr userDrawn="1"/>
        </p:nvPicPr>
        <p:blipFill rotWithShape="1">
          <a:blip r:embed="rId4" cstate="print">
            <a:extLst>
              <a:ext uri="{28A0092B-C50C-407E-A947-70E740481C1C}">
                <a14:useLocalDpi xmlns:a14="http://schemas.microsoft.com/office/drawing/2010/main" val="0"/>
              </a:ext>
            </a:extLst>
          </a:blip>
          <a:srcRect l="37025" t="26715" r="37761" b="27032"/>
          <a:stretch/>
        </p:blipFill>
        <p:spPr>
          <a:xfrm>
            <a:off x="344114" y="153365"/>
            <a:ext cx="569072" cy="777120"/>
          </a:xfrm>
          <a:prstGeom prst="rect">
            <a:avLst/>
          </a:prstGeom>
        </p:spPr>
      </p:pic>
      <p:pic>
        <p:nvPicPr>
          <p:cNvPr id="14" name="Picture 1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230814" y="195902"/>
            <a:ext cx="539288" cy="702365"/>
          </a:xfrm>
          <a:prstGeom prst="rect">
            <a:avLst/>
          </a:prstGeom>
        </p:spPr>
      </p:pic>
    </p:spTree>
    <p:extLst>
      <p:ext uri="{BB962C8B-B14F-4D97-AF65-F5344CB8AC3E}">
        <p14:creationId xmlns:p14="http://schemas.microsoft.com/office/powerpoint/2010/main" val="2013879920"/>
      </p:ext>
    </p:extLst>
  </p:cSld>
  <p:clrMap bg1="lt1" tx1="dk1" bg2="lt2" tx2="dk2" accent1="accent1" accent2="accent2" accent3="accent3" accent4="accent4" accent5="accent5" accent6="accent6" hlink="hlink" folHlink="folHlink"/>
  <p:sldLayoutIdLst>
    <p:sldLayoutId id="2147483661" r:id="rId1"/>
    <p:sldLayoutId id="2147483662" r:id="rId2"/>
  </p:sldLayoutIdLst>
  <p:hf hdr="0"/>
  <p:txStyles>
    <p:titleStyle>
      <a:lvl1pPr algn="ctr" defTabSz="914400" rtl="0" eaLnBrk="1" latinLnBrk="0" hangingPunct="1">
        <a:lnSpc>
          <a:spcPct val="90000"/>
        </a:lnSpc>
        <a:spcBef>
          <a:spcPct val="0"/>
        </a:spcBef>
        <a:buNone/>
        <a:defRPr lang="en-IN" sz="1100" b="1" kern="1200" smtClean="0">
          <a:solidFill>
            <a:schemeClr val="accent6">
              <a:lumMod val="50000"/>
            </a:schemeClr>
          </a:solidFill>
          <a:effectLst/>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IN" sz="1200" b="1" dirty="0">
                <a:solidFill>
                  <a:schemeClr val="bg1"/>
                </a:solidFill>
              </a:rPr>
              <a:t>16-04-2026</a:t>
            </a:r>
          </a:p>
        </p:txBody>
      </p:sp>
      <p:sp>
        <p:nvSpPr>
          <p:cNvPr id="5" name="Slide Number Placeholder 4"/>
          <p:cNvSpPr>
            <a:spLocks noGrp="1"/>
          </p:cNvSpPr>
          <p:nvPr>
            <p:ph type="sldNum" sz="quarter" idx="12"/>
          </p:nvPr>
        </p:nvSpPr>
        <p:spPr/>
        <p:txBody>
          <a:bodyPr/>
          <a:lstStyle/>
          <a:p>
            <a:pPr algn="r"/>
            <a:r>
              <a:rPr lang="en-IN" sz="1200" b="1" dirty="0">
                <a:solidFill>
                  <a:schemeClr val="bg1"/>
                </a:solidFill>
              </a:rPr>
              <a:t>1</a:t>
            </a:r>
          </a:p>
        </p:txBody>
      </p:sp>
      <p:sp>
        <p:nvSpPr>
          <p:cNvPr id="6" name="Footer Placeholder 5"/>
          <p:cNvSpPr>
            <a:spLocks noGrp="1"/>
          </p:cNvSpPr>
          <p:nvPr>
            <p:ph type="ftr" sz="quarter" idx="11"/>
          </p:nvPr>
        </p:nvSpPr>
        <p:spPr/>
        <p:txBody>
          <a:bodyPr/>
          <a:lstStyle/>
          <a:p>
            <a:pPr algn="ctr"/>
            <a:r>
              <a:rPr lang="en-US" sz="1200" b="1" dirty="0">
                <a:solidFill>
                  <a:schemeClr val="bg1"/>
                </a:solidFill>
              </a:rPr>
              <a:t>SREC-ECE</a:t>
            </a:r>
            <a:endParaRPr lang="en-IN" sz="1200" b="1" dirty="0">
              <a:solidFill>
                <a:schemeClr val="bg1"/>
              </a:solidFill>
            </a:endParaRPr>
          </a:p>
        </p:txBody>
      </p:sp>
      <p:sp>
        <p:nvSpPr>
          <p:cNvPr id="7" name="Title Placeholder 1"/>
          <p:cNvSpPr>
            <a:spLocks noGrp="1"/>
          </p:cNvSpPr>
          <p:nvPr/>
        </p:nvSpPr>
        <p:spPr>
          <a:xfrm>
            <a:off x="0" y="148238"/>
            <a:ext cx="9144000" cy="841709"/>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lang="en-IN" sz="1100" b="1" kern="1200" smtClean="0">
                <a:ln>
                  <a:noFill/>
                </a:ln>
                <a:solidFill>
                  <a:schemeClr val="accent6">
                    <a:lumMod val="50000"/>
                  </a:schemeClr>
                </a:solidFill>
                <a:effectLst/>
                <a:latin typeface="+mj-lt"/>
                <a:ea typeface="+mj-ea"/>
                <a:cs typeface="+mj-cs"/>
              </a:defRPr>
            </a:lvl1pPr>
          </a:lstStyle>
          <a:p>
            <a:r>
              <a:rPr lang="en-US" sz="1400" b="1" dirty="0">
                <a:effectLst/>
                <a:latin typeface="Arial" panose="020B0604020202020204" pitchFamily="34" charset="0"/>
                <a:ea typeface="Calibri" panose="020F0502020204030204" pitchFamily="34" charset="0"/>
                <a:cs typeface="Times New Roman" panose="02020603050405020304" pitchFamily="18" charset="0"/>
              </a:rPr>
              <a:t>SRI RAMAKRISHNA ENGINEERING COLLEGE</a:t>
            </a:r>
            <a:br>
              <a:rPr lang="en-US" sz="800" b="1" dirty="0">
                <a:effectLst/>
                <a:latin typeface="Arial" panose="020B0604020202020204" pitchFamily="34" charset="0"/>
                <a:ea typeface="Calibri" panose="020F0502020204030204" pitchFamily="34" charset="0"/>
                <a:cs typeface="Times New Roman" panose="02020603050405020304" pitchFamily="18" charset="0"/>
              </a:rPr>
            </a:br>
            <a:r>
              <a:rPr lang="en-US" sz="800" dirty="0">
                <a:effectLst/>
                <a:latin typeface="Arial" panose="020B0604020202020204" pitchFamily="34" charset="0"/>
                <a:ea typeface="Calibri" panose="020F0502020204030204" pitchFamily="34" charset="0"/>
                <a:cs typeface="Times New Roman" panose="02020603050405020304" pitchFamily="18" charset="0"/>
              </a:rPr>
              <a:t>[</a:t>
            </a:r>
            <a:r>
              <a:rPr lang="en-US" sz="900" dirty="0">
                <a:effectLst/>
                <a:latin typeface="Arial" panose="020B0604020202020204" pitchFamily="34" charset="0"/>
                <a:ea typeface="Calibri" panose="020F0502020204030204" pitchFamily="34" charset="0"/>
                <a:cs typeface="Times New Roman" panose="02020603050405020304" pitchFamily="18" charset="0"/>
              </a:rPr>
              <a:t>Educational Service: SNR Sons Charitable Trust]</a:t>
            </a:r>
            <a:br>
              <a:rPr lang="en-US" sz="900" dirty="0">
                <a:effectLst/>
                <a:latin typeface="Arial" panose="020B0604020202020204" pitchFamily="34" charset="0"/>
                <a:ea typeface="Calibri" panose="020F0502020204030204" pitchFamily="34" charset="0"/>
                <a:cs typeface="Times New Roman" panose="02020603050405020304" pitchFamily="18" charset="0"/>
              </a:rPr>
            </a:br>
            <a:r>
              <a:rPr lang="en-US" sz="900" dirty="0">
                <a:effectLst/>
                <a:latin typeface="Arial" panose="020B0604020202020204" pitchFamily="34" charset="0"/>
                <a:ea typeface="Calibri" panose="020F0502020204030204" pitchFamily="34" charset="0"/>
                <a:cs typeface="Times New Roman" panose="02020603050405020304" pitchFamily="18" charset="0"/>
              </a:rPr>
              <a:t>[Autonomous Institution, Reaccredited by NAAC with ‘A+’ Grade]</a:t>
            </a:r>
            <a:br>
              <a:rPr lang="en-US" sz="900" dirty="0">
                <a:effectLst/>
                <a:latin typeface="Arial" panose="020B0604020202020204" pitchFamily="34" charset="0"/>
                <a:ea typeface="Calibri" panose="020F0502020204030204" pitchFamily="34" charset="0"/>
                <a:cs typeface="Times New Roman" panose="02020603050405020304" pitchFamily="18" charset="0"/>
              </a:rPr>
            </a:br>
            <a:r>
              <a:rPr lang="en-US" sz="900" dirty="0">
                <a:effectLst/>
                <a:latin typeface="Arial" panose="020B0604020202020204" pitchFamily="34" charset="0"/>
                <a:ea typeface="Calibri" panose="020F0502020204030204" pitchFamily="34" charset="0"/>
                <a:cs typeface="Times New Roman" panose="02020603050405020304" pitchFamily="18" charset="0"/>
              </a:rPr>
              <a:t>[Approved by AICTE and Permanently Affiliated to Anna University, Chennai]</a:t>
            </a:r>
            <a:br>
              <a:rPr lang="en-US" sz="900" dirty="0">
                <a:effectLst/>
                <a:latin typeface="Arial" panose="020B0604020202020204" pitchFamily="34" charset="0"/>
                <a:ea typeface="Calibri" panose="020F0502020204030204" pitchFamily="34" charset="0"/>
                <a:cs typeface="Times New Roman" panose="02020603050405020304" pitchFamily="18" charset="0"/>
              </a:rPr>
            </a:br>
            <a:r>
              <a:rPr lang="en-US" sz="900" dirty="0">
                <a:effectLst/>
                <a:latin typeface="Arial" panose="020B0604020202020204" pitchFamily="34" charset="0"/>
                <a:ea typeface="Calibri" panose="020F0502020204030204" pitchFamily="34" charset="0"/>
                <a:cs typeface="Times New Roman" panose="02020603050405020304" pitchFamily="18" charset="0"/>
              </a:rPr>
              <a:t>[ISO 9001:2015 Certified and all eligible </a:t>
            </a:r>
            <a:r>
              <a:rPr lang="en-US" sz="900" dirty="0" err="1">
                <a:effectLst/>
                <a:latin typeface="Arial" panose="020B0604020202020204" pitchFamily="34" charset="0"/>
                <a:ea typeface="Calibri" panose="020F0502020204030204" pitchFamily="34" charset="0"/>
                <a:cs typeface="Times New Roman" panose="02020603050405020304" pitchFamily="18" charset="0"/>
              </a:rPr>
              <a:t>programmes</a:t>
            </a:r>
            <a:r>
              <a:rPr lang="en-US" sz="900" dirty="0">
                <a:effectLst/>
                <a:latin typeface="Arial" panose="020B0604020202020204" pitchFamily="34" charset="0"/>
                <a:ea typeface="Calibri" panose="020F0502020204030204" pitchFamily="34" charset="0"/>
                <a:cs typeface="Times New Roman" panose="02020603050405020304" pitchFamily="18" charset="0"/>
              </a:rPr>
              <a:t> Accredited by NBA]</a:t>
            </a:r>
            <a:br>
              <a:rPr lang="en-US" sz="900" dirty="0">
                <a:effectLst/>
                <a:latin typeface="Arial" panose="020B0604020202020204" pitchFamily="34" charset="0"/>
                <a:ea typeface="Calibri" panose="020F0502020204030204" pitchFamily="34" charset="0"/>
                <a:cs typeface="Times New Roman" panose="02020603050405020304" pitchFamily="18" charset="0"/>
              </a:rPr>
            </a:br>
            <a:r>
              <a:rPr lang="en-US" sz="900" dirty="0">
                <a:effectLst/>
                <a:latin typeface="Arial" panose="020B0604020202020204" pitchFamily="34" charset="0"/>
                <a:ea typeface="Calibri" panose="020F0502020204030204" pitchFamily="34" charset="0"/>
                <a:cs typeface="Times New Roman" panose="02020603050405020304" pitchFamily="18" charset="0"/>
              </a:rPr>
              <a:t>VATTAMALAIPALAYAM, N.G.G.O. COLONY POST, COIMBATORE – 641 022</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angle 8"/>
          <p:cNvSpPr/>
          <p:nvPr/>
        </p:nvSpPr>
        <p:spPr>
          <a:xfrm>
            <a:off x="755650" y="1522413"/>
            <a:ext cx="8001000" cy="4893647"/>
          </a:xfrm>
          <a:prstGeom prst="rect">
            <a:avLst/>
          </a:prstGeom>
        </p:spPr>
        <p:txBody>
          <a:bodyPr>
            <a:spAutoFit/>
          </a:bodyPr>
          <a:lstStyle/>
          <a:p>
            <a:pPr algn="ctr" eaLnBrk="1" fontAlgn="auto" hangingPunct="1">
              <a:spcBef>
                <a:spcPts val="0"/>
              </a:spcBef>
              <a:spcAft>
                <a:spcPts val="0"/>
              </a:spcAft>
              <a:defRPr/>
            </a:pPr>
            <a:r>
              <a:rPr lang="en-US" sz="2400" b="1" dirty="0">
                <a:solidFill>
                  <a:schemeClr val="accent6">
                    <a:lumMod val="50000"/>
                  </a:schemeClr>
                </a:solidFill>
              </a:rPr>
              <a:t>20EC280 – Mini Project  II</a:t>
            </a:r>
          </a:p>
          <a:p>
            <a:pPr algn="ctr" eaLnBrk="1" fontAlgn="auto" hangingPunct="1">
              <a:spcBef>
                <a:spcPts val="0"/>
              </a:spcBef>
              <a:spcAft>
                <a:spcPts val="0"/>
              </a:spcAft>
              <a:defRPr/>
            </a:pPr>
            <a:endParaRPr lang="en-US" sz="1200" b="1" dirty="0">
              <a:solidFill>
                <a:schemeClr val="accent2">
                  <a:lumMod val="75000"/>
                </a:schemeClr>
              </a:solidFill>
            </a:endParaRPr>
          </a:p>
          <a:p>
            <a:pPr algn="ctr" eaLnBrk="1" fontAlgn="auto" hangingPunct="1">
              <a:spcBef>
                <a:spcPts val="0"/>
              </a:spcBef>
              <a:spcAft>
                <a:spcPts val="0"/>
              </a:spcAft>
              <a:defRPr/>
            </a:pPr>
            <a:r>
              <a:rPr lang="en-US" sz="2800" b="1" dirty="0">
                <a:solidFill>
                  <a:srgbClr val="0070C0"/>
                </a:solidFill>
              </a:rPr>
              <a:t>“AI-Driven Urban Traffic Intelligence and Adaptive Optimization Framework” </a:t>
            </a:r>
          </a:p>
          <a:p>
            <a:pPr algn="ctr" eaLnBrk="1" fontAlgn="auto" hangingPunct="1">
              <a:spcBef>
                <a:spcPts val="0"/>
              </a:spcBef>
              <a:spcAft>
                <a:spcPts val="0"/>
              </a:spcAft>
              <a:defRPr/>
            </a:pPr>
            <a:endParaRPr lang="en-US" sz="1200" b="1" dirty="0">
              <a:solidFill>
                <a:srgbClr val="002060"/>
              </a:solidFill>
            </a:endParaRPr>
          </a:p>
          <a:p>
            <a:pPr algn="ctr" eaLnBrk="1" fontAlgn="auto" hangingPunct="1">
              <a:spcBef>
                <a:spcPts val="0"/>
              </a:spcBef>
              <a:spcAft>
                <a:spcPts val="0"/>
              </a:spcAft>
              <a:defRPr/>
            </a:pPr>
            <a:endParaRPr lang="en-US" sz="1600" dirty="0">
              <a:solidFill>
                <a:schemeClr val="accent2">
                  <a:lumMod val="50000"/>
                </a:schemeClr>
              </a:solidFill>
            </a:endParaRPr>
          </a:p>
          <a:p>
            <a:pPr algn="ctr">
              <a:defRPr/>
            </a:pPr>
            <a:r>
              <a:rPr lang="en-US" sz="1600" b="1" dirty="0">
                <a:solidFill>
                  <a:schemeClr val="accent6">
                    <a:lumMod val="50000"/>
                  </a:schemeClr>
                </a:solidFill>
              </a:rPr>
              <a:t>SDG GOALS MAPPED No:11</a:t>
            </a:r>
          </a:p>
          <a:p>
            <a:pPr algn="ctr" eaLnBrk="1" fontAlgn="auto" hangingPunct="1">
              <a:spcBef>
                <a:spcPts val="0"/>
              </a:spcBef>
              <a:spcAft>
                <a:spcPts val="0"/>
              </a:spcAft>
              <a:defRPr/>
            </a:pPr>
            <a:endParaRPr lang="en-US" sz="1600" dirty="0">
              <a:solidFill>
                <a:schemeClr val="accent2">
                  <a:lumMod val="50000"/>
                </a:schemeClr>
              </a:solidFill>
            </a:endParaRPr>
          </a:p>
          <a:p>
            <a:pPr algn="ctr" eaLnBrk="1" fontAlgn="auto" hangingPunct="1">
              <a:spcBef>
                <a:spcPts val="0"/>
              </a:spcBef>
              <a:spcAft>
                <a:spcPts val="0"/>
              </a:spcAft>
              <a:defRPr/>
            </a:pPr>
            <a:r>
              <a:rPr lang="en-US" sz="2000" b="1" dirty="0">
                <a:solidFill>
                  <a:srgbClr val="FF0000"/>
                </a:solidFill>
              </a:rPr>
              <a:t>Presented by</a:t>
            </a:r>
          </a:p>
          <a:p>
            <a:pPr algn="ctr" eaLnBrk="1" fontAlgn="auto" hangingPunct="1">
              <a:spcBef>
                <a:spcPts val="0"/>
              </a:spcBef>
              <a:spcAft>
                <a:spcPts val="0"/>
              </a:spcAft>
              <a:defRPr/>
            </a:pPr>
            <a:r>
              <a:rPr lang="en-US" sz="2000" b="1" dirty="0">
                <a:solidFill>
                  <a:srgbClr val="002060"/>
                </a:solidFill>
              </a:rPr>
              <a:t>Manisha K – 71812302118</a:t>
            </a:r>
          </a:p>
          <a:p>
            <a:pPr algn="ctr" eaLnBrk="1" fontAlgn="auto" hangingPunct="1">
              <a:spcBef>
                <a:spcPts val="0"/>
              </a:spcBef>
              <a:spcAft>
                <a:spcPts val="0"/>
              </a:spcAft>
              <a:defRPr/>
            </a:pPr>
            <a:r>
              <a:rPr lang="en-US" sz="2000" b="1" dirty="0">
                <a:solidFill>
                  <a:srgbClr val="002060"/>
                </a:solidFill>
              </a:rPr>
              <a:t>Pavithra N – 71812302137</a:t>
            </a:r>
          </a:p>
          <a:p>
            <a:pPr algn="ctr" eaLnBrk="1" fontAlgn="auto" hangingPunct="1">
              <a:spcBef>
                <a:spcPts val="0"/>
              </a:spcBef>
              <a:spcAft>
                <a:spcPts val="0"/>
              </a:spcAft>
              <a:defRPr/>
            </a:pPr>
            <a:r>
              <a:rPr lang="en-US" sz="2000" b="1" dirty="0">
                <a:solidFill>
                  <a:srgbClr val="002060"/>
                </a:solidFill>
              </a:rPr>
              <a:t>  Preethika C – 71812302146</a:t>
            </a:r>
          </a:p>
          <a:p>
            <a:pPr algn="ctr" eaLnBrk="1" fontAlgn="auto" hangingPunct="1">
              <a:spcBef>
                <a:spcPts val="0"/>
              </a:spcBef>
              <a:spcAft>
                <a:spcPts val="0"/>
              </a:spcAft>
              <a:defRPr/>
            </a:pPr>
            <a:endParaRPr lang="en-US" sz="2000" b="1" dirty="0">
              <a:solidFill>
                <a:srgbClr val="FF0000"/>
              </a:solidFill>
            </a:endParaRPr>
          </a:p>
          <a:p>
            <a:pPr algn="ctr" eaLnBrk="1" fontAlgn="auto" hangingPunct="1">
              <a:spcBef>
                <a:spcPts val="0"/>
              </a:spcBef>
              <a:spcAft>
                <a:spcPts val="0"/>
              </a:spcAft>
              <a:defRPr/>
            </a:pPr>
            <a:r>
              <a:rPr lang="en-US" sz="2000" b="1" dirty="0">
                <a:solidFill>
                  <a:srgbClr val="FF0000"/>
                </a:solidFill>
              </a:rPr>
              <a:t>Supervised by</a:t>
            </a:r>
          </a:p>
          <a:p>
            <a:pPr algn="ctr" eaLnBrk="1" fontAlgn="auto" hangingPunct="1">
              <a:spcBef>
                <a:spcPts val="0"/>
              </a:spcBef>
              <a:spcAft>
                <a:spcPts val="0"/>
              </a:spcAft>
              <a:defRPr/>
            </a:pPr>
            <a:r>
              <a:rPr lang="en-US" sz="2000" b="1" dirty="0" err="1">
                <a:solidFill>
                  <a:srgbClr val="00B050"/>
                </a:solidFill>
              </a:rPr>
              <a:t>Dr.B.Kalaimathi</a:t>
            </a:r>
            <a:r>
              <a:rPr lang="en-US" sz="2000" b="1" dirty="0">
                <a:solidFill>
                  <a:srgbClr val="00B050"/>
                </a:solidFill>
              </a:rPr>
              <a:t>,</a:t>
            </a:r>
          </a:p>
          <a:p>
            <a:pPr algn="ctr" eaLnBrk="1" fontAlgn="auto" hangingPunct="1">
              <a:spcBef>
                <a:spcPts val="0"/>
              </a:spcBef>
              <a:spcAft>
                <a:spcPts val="0"/>
              </a:spcAft>
              <a:defRPr/>
            </a:pPr>
            <a:r>
              <a:rPr lang="en-US" sz="2000" b="1" dirty="0">
                <a:solidFill>
                  <a:srgbClr val="00B050"/>
                </a:solidFill>
              </a:rPr>
              <a:t>AP(</a:t>
            </a:r>
            <a:r>
              <a:rPr lang="en-US" sz="2000" b="1" dirty="0" err="1">
                <a:solidFill>
                  <a:srgbClr val="00B050"/>
                </a:solidFill>
              </a:rPr>
              <a:t>Sr.G</a:t>
            </a:r>
            <a:r>
              <a:rPr lang="en-US" sz="2000" b="1" dirty="0">
                <a:solidFill>
                  <a:srgbClr val="00B050"/>
                </a:solidFill>
              </a:rPr>
              <a:t>)/ECE</a:t>
            </a:r>
          </a:p>
        </p:txBody>
      </p:sp>
      <p:sp>
        <p:nvSpPr>
          <p:cNvPr id="10" name="Rounded Rectangle 9"/>
          <p:cNvSpPr/>
          <p:nvPr/>
        </p:nvSpPr>
        <p:spPr>
          <a:xfrm>
            <a:off x="179388" y="1522412"/>
            <a:ext cx="1944340" cy="53843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b="1" dirty="0">
                <a:solidFill>
                  <a:srgbClr val="FF0000"/>
                </a:solidFill>
              </a:rPr>
              <a:t>Batch No</a:t>
            </a:r>
            <a:r>
              <a:rPr lang="en-US" dirty="0">
                <a:solidFill>
                  <a:srgbClr val="FF0000"/>
                </a:solidFill>
              </a:rPr>
              <a:t>:EC33</a:t>
            </a:r>
          </a:p>
        </p:txBody>
      </p:sp>
      <p:sp>
        <p:nvSpPr>
          <p:cNvPr id="11" name="Rounded Rectangle 10"/>
          <p:cNvSpPr/>
          <p:nvPr/>
        </p:nvSpPr>
        <p:spPr>
          <a:xfrm>
            <a:off x="323528" y="5954439"/>
            <a:ext cx="3414754" cy="53843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b="1" dirty="0">
                <a:solidFill>
                  <a:srgbClr val="C00000"/>
                </a:solidFill>
              </a:rPr>
              <a:t>Project viva-voce Examination</a:t>
            </a:r>
          </a:p>
          <a:p>
            <a:pPr>
              <a:defRPr/>
            </a:pPr>
            <a:r>
              <a:rPr lang="en-US" b="1" dirty="0">
                <a:solidFill>
                  <a:srgbClr val="C00000"/>
                </a:solidFill>
              </a:rPr>
              <a:t>Date               : 16.04.2026</a:t>
            </a:r>
            <a:endParaRPr lang="en-US" dirty="0">
              <a:solidFill>
                <a:srgbClr val="C00000"/>
              </a:solidFill>
            </a:endParaRPr>
          </a:p>
        </p:txBody>
      </p:sp>
    </p:spTree>
    <p:extLst>
      <p:ext uri="{BB962C8B-B14F-4D97-AF65-F5344CB8AC3E}">
        <p14:creationId xmlns:p14="http://schemas.microsoft.com/office/powerpoint/2010/main" val="7658614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4552" y="217025"/>
            <a:ext cx="6777508" cy="639202"/>
          </a:xfrm>
        </p:spPr>
        <p:txBody>
          <a:bodyPr/>
          <a:lstStyle/>
          <a:p>
            <a:br>
              <a:rPr lang="en-IN" sz="2800" b="0" dirty="0">
                <a:solidFill>
                  <a:srgbClr val="660066"/>
                </a:solidFill>
                <a:latin typeface="Arial" panose="020B0604020202020204" pitchFamily="34" charset="0"/>
                <a:cs typeface="Arial" panose="020B0604020202020204" pitchFamily="34" charset="0"/>
              </a:rPr>
            </a:br>
            <a:r>
              <a:rPr lang="en-IN" sz="2800" b="0" dirty="0">
                <a:solidFill>
                  <a:srgbClr val="660066"/>
                </a:solidFill>
                <a:latin typeface="Arial" panose="020B0604020202020204" pitchFamily="34" charset="0"/>
                <a:cs typeface="Arial" panose="020B0604020202020204" pitchFamily="34" charset="0"/>
              </a:rPr>
              <a:t> </a:t>
            </a:r>
            <a:endParaRPr lang="en-IN" sz="2800" dirty="0">
              <a:solidFill>
                <a:srgbClr val="660066"/>
              </a:solidFill>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r>
              <a:rPr lang="en-IN" dirty="0"/>
              <a:t>16-04-2026</a:t>
            </a:r>
          </a:p>
        </p:txBody>
      </p:sp>
      <p:sp>
        <p:nvSpPr>
          <p:cNvPr id="5" name="Footer Placeholder 4"/>
          <p:cNvSpPr>
            <a:spLocks noGrp="1"/>
          </p:cNvSpPr>
          <p:nvPr>
            <p:ph type="ftr" sz="quarter" idx="11"/>
          </p:nvPr>
        </p:nvSpPr>
        <p:spPr/>
        <p:txBody>
          <a:bodyPr/>
          <a:lstStyle/>
          <a:p>
            <a:r>
              <a:rPr lang="en-US" b="1" dirty="0"/>
              <a:t>SREC-ECE</a:t>
            </a:r>
            <a:endParaRPr lang="en-IN" b="1" dirty="0"/>
          </a:p>
        </p:txBody>
      </p:sp>
      <p:sp>
        <p:nvSpPr>
          <p:cNvPr id="6" name="Slide Number Placeholder 5"/>
          <p:cNvSpPr>
            <a:spLocks noGrp="1"/>
          </p:cNvSpPr>
          <p:nvPr>
            <p:ph type="sldNum" sz="quarter" idx="12"/>
          </p:nvPr>
        </p:nvSpPr>
        <p:spPr/>
        <p:txBody>
          <a:bodyPr/>
          <a:lstStyle/>
          <a:p>
            <a:r>
              <a:rPr lang="en-US" dirty="0"/>
              <a:t>3</a:t>
            </a:r>
            <a:endParaRPr lang="en-IN" dirty="0"/>
          </a:p>
        </p:txBody>
      </p:sp>
      <p:sp>
        <p:nvSpPr>
          <p:cNvPr id="7" name="Rectangle 6"/>
          <p:cNvSpPr/>
          <p:nvPr/>
        </p:nvSpPr>
        <p:spPr>
          <a:xfrm>
            <a:off x="1375625" y="302447"/>
            <a:ext cx="6111025" cy="523220"/>
          </a:xfrm>
          <a:prstGeom prst="rect">
            <a:avLst/>
          </a:prstGeom>
        </p:spPr>
        <p:txBody>
          <a:bodyPr wrap="square">
            <a:spAutoFit/>
          </a:bodyPr>
          <a:lstStyle/>
          <a:p>
            <a:pPr algn="ctr"/>
            <a:r>
              <a:rPr lang="en-IN" sz="2800" b="1" dirty="0">
                <a:solidFill>
                  <a:schemeClr val="accent6">
                    <a:lumMod val="50000"/>
                  </a:schemeClr>
                </a:solidFill>
                <a:latin typeface="Arial" panose="020B0604020202020204" pitchFamily="34" charset="0"/>
                <a:cs typeface="Arial" panose="020B0604020202020204" pitchFamily="34" charset="0"/>
              </a:rPr>
              <a:t>Contents</a:t>
            </a:r>
            <a:endParaRPr lang="en-IN" sz="2800" dirty="0">
              <a:solidFill>
                <a:schemeClr val="accent6">
                  <a:lumMod val="50000"/>
                </a:schemeClr>
              </a:solidFill>
              <a:latin typeface="Arial" panose="020B0604020202020204" pitchFamily="34" charset="0"/>
              <a:cs typeface="Arial" panose="020B0604020202020204" pitchFamily="34" charset="0"/>
            </a:endParaRPr>
          </a:p>
        </p:txBody>
      </p:sp>
      <p:sp>
        <p:nvSpPr>
          <p:cNvPr id="8" name="Subtitle 7"/>
          <p:cNvSpPr>
            <a:spLocks noGrp="1"/>
          </p:cNvSpPr>
          <p:nvPr>
            <p:ph type="subTitle" idx="1"/>
          </p:nvPr>
        </p:nvSpPr>
        <p:spPr/>
        <p:txBody>
          <a:bodyPr/>
          <a:lstStyle/>
          <a:p>
            <a:endParaRPr lang="en-IN"/>
          </a:p>
        </p:txBody>
      </p:sp>
      <p:graphicFrame>
        <p:nvGraphicFramePr>
          <p:cNvPr id="9" name="Content Placeholder 5"/>
          <p:cNvGraphicFramePr>
            <a:graphicFrameLocks/>
          </p:cNvGraphicFramePr>
          <p:nvPr>
            <p:extLst>
              <p:ext uri="{D42A27DB-BD31-4B8C-83A1-F6EECF244321}">
                <p14:modId xmlns:p14="http://schemas.microsoft.com/office/powerpoint/2010/main" val="2848529546"/>
              </p:ext>
            </p:extLst>
          </p:nvPr>
        </p:nvGraphicFramePr>
        <p:xfrm>
          <a:off x="457200" y="1329003"/>
          <a:ext cx="8229600" cy="4718523"/>
        </p:xfrm>
        <a:graphic>
          <a:graphicData uri="http://schemas.openxmlformats.org/drawingml/2006/table">
            <a:tbl>
              <a:tblPr firstRow="1" bandRow="1">
                <a:tableStyleId>{5C22544A-7EE6-4342-B048-85BDC9FD1C3A}</a:tableStyleId>
              </a:tblPr>
              <a:tblGrid>
                <a:gridCol w="1018456">
                  <a:extLst>
                    <a:ext uri="{9D8B030D-6E8A-4147-A177-3AD203B41FA5}">
                      <a16:colId xmlns:a16="http://schemas.microsoft.com/office/drawing/2014/main" val="20000"/>
                    </a:ext>
                  </a:extLst>
                </a:gridCol>
                <a:gridCol w="5472608">
                  <a:extLst>
                    <a:ext uri="{9D8B030D-6E8A-4147-A177-3AD203B41FA5}">
                      <a16:colId xmlns:a16="http://schemas.microsoft.com/office/drawing/2014/main" val="20001"/>
                    </a:ext>
                  </a:extLst>
                </a:gridCol>
                <a:gridCol w="1738536">
                  <a:extLst>
                    <a:ext uri="{9D8B030D-6E8A-4147-A177-3AD203B41FA5}">
                      <a16:colId xmlns:a16="http://schemas.microsoft.com/office/drawing/2014/main" val="20002"/>
                    </a:ext>
                  </a:extLst>
                </a:gridCol>
              </a:tblGrid>
              <a:tr h="370769">
                <a:tc>
                  <a:txBody>
                    <a:bodyPr/>
                    <a:lstStyle/>
                    <a:p>
                      <a:pPr algn="ctr"/>
                      <a:r>
                        <a:rPr lang="en-US" sz="1800" dirty="0" err="1">
                          <a:latin typeface="Times New Roman" panose="02020603050405020304" pitchFamily="18" charset="0"/>
                          <a:cs typeface="Times New Roman" panose="02020603050405020304" pitchFamily="18" charset="0"/>
                        </a:rPr>
                        <a:t>S.No</a:t>
                      </a:r>
                      <a:endParaRPr lang="en-US" sz="1800" dirty="0">
                        <a:latin typeface="Times New Roman" panose="02020603050405020304" pitchFamily="18" charset="0"/>
                        <a:cs typeface="Times New Roman" panose="02020603050405020304" pitchFamily="18" charset="0"/>
                      </a:endParaRPr>
                    </a:p>
                  </a:txBody>
                  <a:tcPr marT="45712" marB="45712"/>
                </a:tc>
                <a:tc>
                  <a:txBody>
                    <a:bodyPr/>
                    <a:lstStyle/>
                    <a:p>
                      <a:pPr algn="ctr"/>
                      <a:r>
                        <a:rPr lang="en-US" sz="1800" dirty="0">
                          <a:latin typeface="Times New Roman" panose="02020603050405020304" pitchFamily="18" charset="0"/>
                          <a:cs typeface="Times New Roman" panose="02020603050405020304" pitchFamily="18" charset="0"/>
                        </a:rPr>
                        <a:t>Description</a:t>
                      </a:r>
                      <a:r>
                        <a:rPr lang="en-US" sz="1800" baseline="0" dirty="0">
                          <a:latin typeface="Times New Roman" panose="02020603050405020304" pitchFamily="18" charset="0"/>
                          <a:cs typeface="Times New Roman" panose="02020603050405020304" pitchFamily="18" charset="0"/>
                        </a:rPr>
                        <a:t> </a:t>
                      </a:r>
                      <a:endParaRPr lang="en-US" sz="1800" dirty="0">
                        <a:latin typeface="Times New Roman" panose="02020603050405020304" pitchFamily="18" charset="0"/>
                        <a:cs typeface="Times New Roman" panose="02020603050405020304" pitchFamily="18" charset="0"/>
                      </a:endParaRPr>
                    </a:p>
                  </a:txBody>
                  <a:tcPr marT="45712" marB="45712"/>
                </a:tc>
                <a:tc>
                  <a:txBody>
                    <a:bodyPr/>
                    <a:lstStyle/>
                    <a:p>
                      <a:pPr algn="ctr"/>
                      <a:r>
                        <a:rPr lang="en-US" sz="1800" dirty="0">
                          <a:latin typeface="Times New Roman" panose="02020603050405020304" pitchFamily="18" charset="0"/>
                          <a:cs typeface="Times New Roman" panose="02020603050405020304" pitchFamily="18" charset="0"/>
                        </a:rPr>
                        <a:t>Slide Number</a:t>
                      </a:r>
                    </a:p>
                  </a:txBody>
                  <a:tcPr marT="45712" marB="45712"/>
                </a:tc>
                <a:extLst>
                  <a:ext uri="{0D108BD9-81ED-4DB2-BD59-A6C34878D82A}">
                    <a16:rowId xmlns:a16="http://schemas.microsoft.com/office/drawing/2014/main" val="10000"/>
                  </a:ext>
                </a:extLst>
              </a:tr>
              <a:tr h="370769">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1</a:t>
                      </a:r>
                    </a:p>
                  </a:txBody>
                  <a:tcPr marT="45712" marB="45712"/>
                </a:tc>
                <a:tc>
                  <a:txBody>
                    <a:bodyPr/>
                    <a:lstStyle/>
                    <a:p>
                      <a:r>
                        <a:rPr lang="en-US" sz="1800" dirty="0">
                          <a:solidFill>
                            <a:srgbClr val="2B049A"/>
                          </a:solidFill>
                          <a:latin typeface="Times New Roman" panose="02020603050405020304" pitchFamily="18" charset="0"/>
                          <a:cs typeface="Times New Roman" panose="02020603050405020304" pitchFamily="18" charset="0"/>
                        </a:rPr>
                        <a:t>Introduction</a:t>
                      </a:r>
                    </a:p>
                  </a:txBody>
                  <a:tcPr marT="45712" marB="45712"/>
                </a:tc>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3</a:t>
                      </a:r>
                    </a:p>
                  </a:txBody>
                  <a:tcPr marT="45712" marB="45712"/>
                </a:tc>
                <a:extLst>
                  <a:ext uri="{0D108BD9-81ED-4DB2-BD59-A6C34878D82A}">
                    <a16:rowId xmlns:a16="http://schemas.microsoft.com/office/drawing/2014/main" val="10001"/>
                  </a:ext>
                </a:extLst>
              </a:tr>
              <a:tr h="370769">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2</a:t>
                      </a:r>
                    </a:p>
                  </a:txBody>
                  <a:tcPr marT="45712" marB="4571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2B049A"/>
                          </a:solidFill>
                          <a:latin typeface="Times New Roman" panose="02020603050405020304" pitchFamily="18" charset="0"/>
                          <a:cs typeface="Times New Roman" panose="02020603050405020304" pitchFamily="18" charset="0"/>
                        </a:rPr>
                        <a:t>Problem</a:t>
                      </a:r>
                      <a:r>
                        <a:rPr lang="en-US" sz="1800" baseline="0" dirty="0">
                          <a:solidFill>
                            <a:srgbClr val="2B049A"/>
                          </a:solidFill>
                          <a:latin typeface="Times New Roman" panose="02020603050405020304" pitchFamily="18" charset="0"/>
                          <a:cs typeface="Times New Roman" panose="02020603050405020304" pitchFamily="18" charset="0"/>
                        </a:rPr>
                        <a:t> identification, scope and objective</a:t>
                      </a:r>
                      <a:r>
                        <a:rPr lang="en-US" sz="1800" kern="1200" dirty="0">
                          <a:solidFill>
                            <a:srgbClr val="2B049A"/>
                          </a:solidFill>
                          <a:latin typeface="Times New Roman" panose="02020603050405020304" pitchFamily="18" charset="0"/>
                          <a:ea typeface="+mn-ea"/>
                          <a:cs typeface="Times New Roman" panose="02020603050405020304" pitchFamily="18" charset="0"/>
                        </a:rPr>
                        <a:t> </a:t>
                      </a:r>
                      <a:endParaRPr lang="en-IN" sz="1800" kern="1200" dirty="0">
                        <a:solidFill>
                          <a:srgbClr val="2B049A"/>
                        </a:solidFill>
                        <a:latin typeface="Times New Roman" panose="02020603050405020304" pitchFamily="18" charset="0"/>
                        <a:ea typeface="+mn-ea"/>
                        <a:cs typeface="Times New Roman" panose="02020603050405020304" pitchFamily="18" charset="0"/>
                      </a:endParaRPr>
                    </a:p>
                  </a:txBody>
                  <a:tcPr marT="45712" marB="45712"/>
                </a:tc>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4-5</a:t>
                      </a:r>
                    </a:p>
                  </a:txBody>
                  <a:tcPr marT="45712" marB="45712"/>
                </a:tc>
                <a:extLst>
                  <a:ext uri="{0D108BD9-81ED-4DB2-BD59-A6C34878D82A}">
                    <a16:rowId xmlns:a16="http://schemas.microsoft.com/office/drawing/2014/main" val="10002"/>
                  </a:ext>
                </a:extLst>
              </a:tr>
              <a:tr h="370769">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3</a:t>
                      </a:r>
                    </a:p>
                  </a:txBody>
                  <a:tcPr marT="45712" marB="45712"/>
                </a:tc>
                <a:tc>
                  <a:txBody>
                    <a:bodyPr/>
                    <a:lstStyle/>
                    <a:p>
                      <a:r>
                        <a:rPr lang="en-US" sz="1800" dirty="0">
                          <a:solidFill>
                            <a:srgbClr val="2B049A"/>
                          </a:solidFill>
                          <a:latin typeface="Times New Roman" panose="02020603050405020304" pitchFamily="18" charset="0"/>
                          <a:cs typeface="Times New Roman" panose="02020603050405020304" pitchFamily="18" charset="0"/>
                        </a:rPr>
                        <a:t>Literature Survey</a:t>
                      </a:r>
                    </a:p>
                  </a:txBody>
                  <a:tcPr marT="45712" marB="45712"/>
                </a:tc>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6-10</a:t>
                      </a:r>
                    </a:p>
                  </a:txBody>
                  <a:tcPr marT="45712" marB="45712"/>
                </a:tc>
                <a:extLst>
                  <a:ext uri="{0D108BD9-81ED-4DB2-BD59-A6C34878D82A}">
                    <a16:rowId xmlns:a16="http://schemas.microsoft.com/office/drawing/2014/main" val="10003"/>
                  </a:ext>
                </a:extLst>
              </a:tr>
              <a:tr h="370769">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4</a:t>
                      </a:r>
                    </a:p>
                  </a:txBody>
                  <a:tcPr marT="45712" marB="4571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2B049A"/>
                          </a:solidFill>
                          <a:latin typeface="Times New Roman" panose="02020603050405020304" pitchFamily="18" charset="0"/>
                          <a:cs typeface="Times New Roman" panose="02020603050405020304" pitchFamily="18" charset="0"/>
                        </a:rPr>
                        <a:t>Existing technology of the project</a:t>
                      </a:r>
                    </a:p>
                  </a:txBody>
                  <a:tcPr marT="45712" marB="4571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rgbClr val="2B049A"/>
                          </a:solidFill>
                          <a:latin typeface="Times New Roman" panose="02020603050405020304" pitchFamily="18" charset="0"/>
                          <a:cs typeface="Times New Roman" panose="02020603050405020304" pitchFamily="18" charset="0"/>
                        </a:rPr>
                        <a:t>11-12</a:t>
                      </a:r>
                    </a:p>
                  </a:txBody>
                  <a:tcPr marT="45712" marB="45712"/>
                </a:tc>
                <a:extLst>
                  <a:ext uri="{0D108BD9-81ED-4DB2-BD59-A6C34878D82A}">
                    <a16:rowId xmlns:a16="http://schemas.microsoft.com/office/drawing/2014/main" val="10004"/>
                  </a:ext>
                </a:extLst>
              </a:tr>
              <a:tr h="370769">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5</a:t>
                      </a:r>
                    </a:p>
                  </a:txBody>
                  <a:tcPr marT="45712" marB="45712"/>
                </a:tc>
                <a:tc>
                  <a:txBody>
                    <a:bodyPr/>
                    <a:lstStyle/>
                    <a:p>
                      <a:r>
                        <a:rPr lang="en-US" sz="1800" dirty="0">
                          <a:solidFill>
                            <a:srgbClr val="2B049A"/>
                          </a:solidFill>
                          <a:latin typeface="Times New Roman" panose="02020603050405020304" pitchFamily="18" charset="0"/>
                          <a:cs typeface="Times New Roman" panose="02020603050405020304" pitchFamily="18" charset="0"/>
                        </a:rPr>
                        <a:t>Methodology,</a:t>
                      </a:r>
                      <a:r>
                        <a:rPr lang="en-US" sz="1800" baseline="0" dirty="0">
                          <a:solidFill>
                            <a:srgbClr val="2B049A"/>
                          </a:solidFill>
                          <a:latin typeface="Times New Roman" panose="02020603050405020304" pitchFamily="18" charset="0"/>
                          <a:cs typeface="Times New Roman" panose="02020603050405020304" pitchFamily="18" charset="0"/>
                        </a:rPr>
                        <a:t> </a:t>
                      </a:r>
                      <a:r>
                        <a:rPr lang="en-US" sz="1800" dirty="0">
                          <a:solidFill>
                            <a:srgbClr val="2B049A"/>
                          </a:solidFill>
                          <a:latin typeface="Times New Roman" panose="02020603050405020304" pitchFamily="18" charset="0"/>
                          <a:cs typeface="Times New Roman" panose="02020603050405020304" pitchFamily="18" charset="0"/>
                        </a:rPr>
                        <a:t>Time line, </a:t>
                      </a:r>
                    </a:p>
                  </a:txBody>
                  <a:tcPr marT="45712" marB="45712"/>
                </a:tc>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13-14</a:t>
                      </a:r>
                    </a:p>
                  </a:txBody>
                  <a:tcPr marT="45712" marB="45712"/>
                </a:tc>
                <a:extLst>
                  <a:ext uri="{0D108BD9-81ED-4DB2-BD59-A6C34878D82A}">
                    <a16:rowId xmlns:a16="http://schemas.microsoft.com/office/drawing/2014/main" val="10005"/>
                  </a:ext>
                </a:extLst>
              </a:tr>
              <a:tr h="370769">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6</a:t>
                      </a:r>
                    </a:p>
                  </a:txBody>
                  <a:tcPr marT="45712" marB="45712"/>
                </a:tc>
                <a:tc>
                  <a:txBody>
                    <a:bodyPr/>
                    <a:lstStyle/>
                    <a:p>
                      <a:r>
                        <a:rPr lang="en-US" sz="1800" dirty="0">
                          <a:solidFill>
                            <a:srgbClr val="2B049A"/>
                          </a:solidFill>
                          <a:latin typeface="Times New Roman" panose="02020603050405020304" pitchFamily="18" charset="0"/>
                          <a:cs typeface="Times New Roman" panose="02020603050405020304" pitchFamily="18" charset="0"/>
                        </a:rPr>
                        <a:t>Design &amp; Experimentation- Technical feasibility</a:t>
                      </a:r>
                    </a:p>
                  </a:txBody>
                  <a:tcPr marT="45712" marB="45712"/>
                </a:tc>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15 - 16</a:t>
                      </a:r>
                    </a:p>
                  </a:txBody>
                  <a:tcPr marT="45712" marB="45712"/>
                </a:tc>
                <a:extLst>
                  <a:ext uri="{0D108BD9-81ED-4DB2-BD59-A6C34878D82A}">
                    <a16:rowId xmlns:a16="http://schemas.microsoft.com/office/drawing/2014/main" val="10006"/>
                  </a:ext>
                </a:extLst>
              </a:tr>
              <a:tr h="370769">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7</a:t>
                      </a:r>
                    </a:p>
                  </a:txBody>
                  <a:tcPr marT="45712" marB="45712"/>
                </a:tc>
                <a:tc>
                  <a:txBody>
                    <a:bodyPr/>
                    <a:lstStyle/>
                    <a:p>
                      <a:r>
                        <a:rPr lang="en-US" sz="1800" dirty="0">
                          <a:solidFill>
                            <a:srgbClr val="2B049A"/>
                          </a:solidFill>
                          <a:latin typeface="Times New Roman" panose="02020603050405020304" pitchFamily="18" charset="0"/>
                          <a:cs typeface="Times New Roman" panose="02020603050405020304" pitchFamily="18" charset="0"/>
                        </a:rPr>
                        <a:t>Results obtained</a:t>
                      </a:r>
                      <a:r>
                        <a:rPr lang="en-US" sz="1800" baseline="0" dirty="0">
                          <a:solidFill>
                            <a:srgbClr val="2B049A"/>
                          </a:solidFill>
                          <a:latin typeface="Times New Roman" panose="02020603050405020304" pitchFamily="18" charset="0"/>
                          <a:cs typeface="Times New Roman" panose="02020603050405020304" pitchFamily="18" charset="0"/>
                        </a:rPr>
                        <a:t> till date </a:t>
                      </a:r>
                      <a:endParaRPr lang="en-US" sz="1800" dirty="0">
                        <a:solidFill>
                          <a:srgbClr val="2B049A"/>
                        </a:solidFill>
                        <a:latin typeface="Times New Roman" panose="02020603050405020304" pitchFamily="18" charset="0"/>
                        <a:cs typeface="Times New Roman" panose="02020603050405020304" pitchFamily="18" charset="0"/>
                      </a:endParaRPr>
                    </a:p>
                  </a:txBody>
                  <a:tcPr marT="45712" marB="45712"/>
                </a:tc>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17 - 18</a:t>
                      </a:r>
                    </a:p>
                  </a:txBody>
                  <a:tcPr marT="45712" marB="45712"/>
                </a:tc>
                <a:extLst>
                  <a:ext uri="{0D108BD9-81ED-4DB2-BD59-A6C34878D82A}">
                    <a16:rowId xmlns:a16="http://schemas.microsoft.com/office/drawing/2014/main" val="10007"/>
                  </a:ext>
                </a:extLst>
              </a:tr>
              <a:tr h="370769">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8</a:t>
                      </a:r>
                    </a:p>
                  </a:txBody>
                  <a:tcPr marT="45712" marB="4571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2B049A"/>
                          </a:solidFill>
                          <a:latin typeface="Times New Roman" panose="02020603050405020304" pitchFamily="18" charset="0"/>
                          <a:cs typeface="Times New Roman" panose="02020603050405020304" pitchFamily="18" charset="0"/>
                        </a:rPr>
                        <a:t>Costing </a:t>
                      </a:r>
                      <a:r>
                        <a:rPr lang="en-US" sz="1800" baseline="0" dirty="0">
                          <a:solidFill>
                            <a:srgbClr val="2B049A"/>
                          </a:solidFill>
                          <a:latin typeface="Times New Roman" panose="02020603050405020304" pitchFamily="18" charset="0"/>
                          <a:cs typeface="Times New Roman" panose="02020603050405020304" pitchFamily="18" charset="0"/>
                        </a:rPr>
                        <a:t>&amp; Financial feasibility</a:t>
                      </a:r>
                      <a:endParaRPr lang="en-US" sz="1800" dirty="0">
                        <a:solidFill>
                          <a:srgbClr val="2B049A"/>
                        </a:solidFill>
                        <a:latin typeface="Times New Roman" panose="02020603050405020304" pitchFamily="18" charset="0"/>
                        <a:cs typeface="Times New Roman" panose="02020603050405020304" pitchFamily="18" charset="0"/>
                      </a:endParaRPr>
                    </a:p>
                  </a:txBody>
                  <a:tcPr marT="45712" marB="45712"/>
                </a:tc>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19</a:t>
                      </a:r>
                    </a:p>
                  </a:txBody>
                  <a:tcPr marT="45712" marB="45712"/>
                </a:tc>
                <a:extLst>
                  <a:ext uri="{0D108BD9-81ED-4DB2-BD59-A6C34878D82A}">
                    <a16:rowId xmlns:a16="http://schemas.microsoft.com/office/drawing/2014/main" val="10008"/>
                  </a:ext>
                </a:extLst>
              </a:tr>
              <a:tr h="370769">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9</a:t>
                      </a:r>
                    </a:p>
                  </a:txBody>
                  <a:tcPr marT="45712" marB="4571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2B049A"/>
                          </a:solidFill>
                          <a:latin typeface="Times New Roman" panose="02020603050405020304" pitchFamily="18" charset="0"/>
                          <a:cs typeface="Times New Roman" panose="02020603050405020304" pitchFamily="18" charset="0"/>
                        </a:rPr>
                        <a:t>Outcome of the Projects</a:t>
                      </a:r>
                    </a:p>
                  </a:txBody>
                  <a:tcPr marT="45712" marB="45712"/>
                </a:tc>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20</a:t>
                      </a:r>
                    </a:p>
                  </a:txBody>
                  <a:tcPr marT="45712" marB="45712"/>
                </a:tc>
                <a:extLst>
                  <a:ext uri="{0D108BD9-81ED-4DB2-BD59-A6C34878D82A}">
                    <a16:rowId xmlns:a16="http://schemas.microsoft.com/office/drawing/2014/main" val="10009"/>
                  </a:ext>
                </a:extLst>
              </a:tr>
              <a:tr h="370769">
                <a:tc>
                  <a:txBody>
                    <a:bodyPr/>
                    <a:lstStyle/>
                    <a:p>
                      <a:pPr marL="0" algn="ctr" defTabSz="914400" rtl="0" eaLnBrk="1" latinLnBrk="0" hangingPunct="1"/>
                      <a:r>
                        <a:rPr lang="en-US" sz="1800" kern="1200" dirty="0">
                          <a:solidFill>
                            <a:srgbClr val="2B049A"/>
                          </a:solidFill>
                          <a:latin typeface="Times New Roman" panose="02020603050405020304" pitchFamily="18" charset="0"/>
                          <a:ea typeface="+mn-ea"/>
                          <a:cs typeface="Times New Roman" panose="02020603050405020304" pitchFamily="18" charset="0"/>
                        </a:rPr>
                        <a:t>10</a:t>
                      </a:r>
                      <a:endParaRPr lang="en-IN" sz="1800" kern="1200" dirty="0">
                        <a:solidFill>
                          <a:srgbClr val="2B049A"/>
                        </a:solidFill>
                        <a:latin typeface="Times New Roman" panose="02020603050405020304" pitchFamily="18" charset="0"/>
                        <a:ea typeface="+mn-ea"/>
                        <a:cs typeface="Times New Roman" panose="02020603050405020304" pitchFamily="18" charset="0"/>
                      </a:endParaRPr>
                    </a:p>
                  </a:txBody>
                  <a:tcPr marT="45712" marB="4571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2B049A"/>
                          </a:solidFill>
                          <a:latin typeface="Times New Roman" panose="02020603050405020304" pitchFamily="18" charset="0"/>
                          <a:cs typeface="Times New Roman" panose="02020603050405020304" pitchFamily="18" charset="0"/>
                        </a:rPr>
                        <a:t>Participation in events (Patent,</a:t>
                      </a:r>
                      <a:r>
                        <a:rPr lang="en-US" sz="1800" baseline="0" dirty="0">
                          <a:solidFill>
                            <a:srgbClr val="2B049A"/>
                          </a:solidFill>
                          <a:latin typeface="Times New Roman" panose="02020603050405020304" pitchFamily="18" charset="0"/>
                          <a:cs typeface="Times New Roman" panose="02020603050405020304" pitchFamily="18" charset="0"/>
                        </a:rPr>
                        <a:t> Paper, </a:t>
                      </a:r>
                      <a:r>
                        <a:rPr lang="en-US" sz="1800" baseline="0" dirty="0" err="1">
                          <a:solidFill>
                            <a:srgbClr val="2B049A"/>
                          </a:solidFill>
                          <a:latin typeface="Times New Roman" panose="02020603050405020304" pitchFamily="18" charset="0"/>
                          <a:cs typeface="Times New Roman" panose="02020603050405020304" pitchFamily="18" charset="0"/>
                        </a:rPr>
                        <a:t>Hackatons</a:t>
                      </a:r>
                      <a:r>
                        <a:rPr lang="en-US" sz="1800" baseline="0" dirty="0">
                          <a:solidFill>
                            <a:srgbClr val="2B049A"/>
                          </a:solidFill>
                          <a:latin typeface="Times New Roman" panose="02020603050405020304" pitchFamily="18" charset="0"/>
                          <a:cs typeface="Times New Roman" panose="02020603050405020304" pitchFamily="18" charset="0"/>
                        </a:rPr>
                        <a:t> etc.,) – applied / published / granted </a:t>
                      </a:r>
                      <a:endParaRPr lang="en-US" sz="1800" dirty="0">
                        <a:solidFill>
                          <a:srgbClr val="2B049A"/>
                        </a:solidFill>
                        <a:latin typeface="Times New Roman" panose="02020603050405020304" pitchFamily="18" charset="0"/>
                        <a:cs typeface="Times New Roman" panose="02020603050405020304" pitchFamily="18" charset="0"/>
                      </a:endParaRPr>
                    </a:p>
                  </a:txBody>
                  <a:tcPr marT="45712" marB="45712"/>
                </a:tc>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21</a:t>
                      </a:r>
                    </a:p>
                  </a:txBody>
                  <a:tcPr marT="45712" marB="45712"/>
                </a:tc>
                <a:extLst>
                  <a:ext uri="{0D108BD9-81ED-4DB2-BD59-A6C34878D82A}">
                    <a16:rowId xmlns:a16="http://schemas.microsoft.com/office/drawing/2014/main" val="10010"/>
                  </a:ext>
                </a:extLst>
              </a:tr>
              <a:tr h="370769">
                <a:tc>
                  <a:txBody>
                    <a:bodyPr/>
                    <a:lstStyle/>
                    <a:p>
                      <a:pPr marL="0" algn="ctr" defTabSz="914400" rtl="0" eaLnBrk="1" latinLnBrk="0" hangingPunct="1"/>
                      <a:r>
                        <a:rPr lang="en-US" sz="1800" kern="1200" dirty="0">
                          <a:solidFill>
                            <a:srgbClr val="2B049A"/>
                          </a:solidFill>
                          <a:latin typeface="Times New Roman" panose="02020603050405020304" pitchFamily="18" charset="0"/>
                          <a:ea typeface="+mn-ea"/>
                          <a:cs typeface="Times New Roman" panose="02020603050405020304" pitchFamily="18" charset="0"/>
                        </a:rPr>
                        <a:t>11</a:t>
                      </a:r>
                      <a:endParaRPr lang="en-IN" sz="1800" kern="1200" dirty="0">
                        <a:solidFill>
                          <a:srgbClr val="2B049A"/>
                        </a:solidFill>
                        <a:latin typeface="Times New Roman" panose="02020603050405020304" pitchFamily="18" charset="0"/>
                        <a:ea typeface="+mn-ea"/>
                        <a:cs typeface="Times New Roman" panose="02020603050405020304" pitchFamily="18" charset="0"/>
                      </a:endParaRPr>
                    </a:p>
                  </a:txBody>
                  <a:tcPr marT="45712" marB="4571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2B049A"/>
                          </a:solidFill>
                          <a:latin typeface="Times New Roman" panose="02020603050405020304" pitchFamily="18" charset="0"/>
                          <a:cs typeface="Times New Roman" panose="02020603050405020304" pitchFamily="18" charset="0"/>
                        </a:rPr>
                        <a:t>SDG Goals &amp; References</a:t>
                      </a:r>
                    </a:p>
                  </a:txBody>
                  <a:tcPr marT="45712" marB="45712"/>
                </a:tc>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22-23</a:t>
                      </a:r>
                    </a:p>
                  </a:txBody>
                  <a:tcPr marT="45712" marB="45712"/>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98502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4552" y="217025"/>
            <a:ext cx="6777508" cy="639202"/>
          </a:xfrm>
        </p:spPr>
        <p:txBody>
          <a:bodyPr/>
          <a:lstStyle/>
          <a:p>
            <a:br>
              <a:rPr lang="en-IN" sz="2800" b="0" dirty="0">
                <a:solidFill>
                  <a:srgbClr val="660066"/>
                </a:solidFill>
                <a:latin typeface="Arial" panose="020B0604020202020204" pitchFamily="34" charset="0"/>
                <a:cs typeface="Arial" panose="020B0604020202020204" pitchFamily="34" charset="0"/>
              </a:rPr>
            </a:br>
            <a:r>
              <a:rPr lang="en-IN" sz="2800" b="0" dirty="0">
                <a:solidFill>
                  <a:srgbClr val="660066"/>
                </a:solidFill>
                <a:latin typeface="Arial" panose="020B0604020202020204" pitchFamily="34" charset="0"/>
                <a:cs typeface="Arial" panose="020B0604020202020204" pitchFamily="34" charset="0"/>
              </a:rPr>
              <a:t> </a:t>
            </a:r>
            <a:endParaRPr lang="en-IN" sz="2800" dirty="0">
              <a:solidFill>
                <a:srgbClr val="660066"/>
              </a:solidFill>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r>
              <a:rPr lang="en-IN" dirty="0"/>
              <a:t>16-04-2026</a:t>
            </a:r>
          </a:p>
        </p:txBody>
      </p:sp>
      <p:sp>
        <p:nvSpPr>
          <p:cNvPr id="5" name="Footer Placeholder 4"/>
          <p:cNvSpPr>
            <a:spLocks noGrp="1"/>
          </p:cNvSpPr>
          <p:nvPr>
            <p:ph type="ftr" sz="quarter" idx="11"/>
          </p:nvPr>
        </p:nvSpPr>
        <p:spPr/>
        <p:txBody>
          <a:bodyPr/>
          <a:lstStyle/>
          <a:p>
            <a:r>
              <a:rPr lang="en-US" b="1" dirty="0"/>
              <a:t>SREC-ECE</a:t>
            </a:r>
            <a:endParaRPr lang="en-IN" b="1" dirty="0"/>
          </a:p>
        </p:txBody>
      </p:sp>
      <p:sp>
        <p:nvSpPr>
          <p:cNvPr id="6" name="Slide Number Placeholder 5"/>
          <p:cNvSpPr>
            <a:spLocks noGrp="1"/>
          </p:cNvSpPr>
          <p:nvPr>
            <p:ph type="sldNum" sz="quarter" idx="12"/>
          </p:nvPr>
        </p:nvSpPr>
        <p:spPr/>
        <p:txBody>
          <a:bodyPr/>
          <a:lstStyle/>
          <a:p>
            <a:r>
              <a:rPr lang="en-US" dirty="0"/>
              <a:t>3</a:t>
            </a:r>
            <a:endParaRPr lang="en-IN" dirty="0"/>
          </a:p>
        </p:txBody>
      </p:sp>
      <p:sp>
        <p:nvSpPr>
          <p:cNvPr id="7" name="Rectangle 6"/>
          <p:cNvSpPr/>
          <p:nvPr/>
        </p:nvSpPr>
        <p:spPr>
          <a:xfrm>
            <a:off x="1516487" y="292009"/>
            <a:ext cx="6111025" cy="523220"/>
          </a:xfrm>
          <a:prstGeom prst="rect">
            <a:avLst/>
          </a:prstGeom>
        </p:spPr>
        <p:txBody>
          <a:bodyPr wrap="square">
            <a:spAutoFit/>
          </a:bodyPr>
          <a:lstStyle/>
          <a:p>
            <a:pPr algn="ctr"/>
            <a:r>
              <a:rPr lang="en-US" sz="2800" b="1" dirty="0">
                <a:solidFill>
                  <a:schemeClr val="accent6">
                    <a:lumMod val="50000"/>
                  </a:schemeClr>
                </a:solidFill>
                <a:latin typeface="Arial" panose="020B0604020202020204" pitchFamily="34" charset="0"/>
                <a:cs typeface="Arial" panose="020B0604020202020204" pitchFamily="34" charset="0"/>
              </a:rPr>
              <a:t>Introduction</a:t>
            </a:r>
            <a:endParaRPr lang="en-IN" sz="2800" dirty="0">
              <a:solidFill>
                <a:schemeClr val="accent6">
                  <a:lumMod val="50000"/>
                </a:schemeClr>
              </a:solidFill>
              <a:latin typeface="Arial" panose="020B0604020202020204" pitchFamily="34" charset="0"/>
              <a:cs typeface="Arial" panose="020B0604020202020204" pitchFamily="34" charset="0"/>
            </a:endParaRPr>
          </a:p>
        </p:txBody>
      </p:sp>
      <p:sp>
        <p:nvSpPr>
          <p:cNvPr id="8" name="Rectangle 1">
            <a:extLst>
              <a:ext uri="{FF2B5EF4-FFF2-40B4-BE49-F238E27FC236}">
                <a16:creationId xmlns:a16="http://schemas.microsoft.com/office/drawing/2014/main" id="{55B46754-55F1-F7BA-C2C6-2F44FA3187E6}"/>
              </a:ext>
            </a:extLst>
          </p:cNvPr>
          <p:cNvSpPr>
            <a:spLocks noGrp="1" noChangeArrowheads="1"/>
          </p:cNvSpPr>
          <p:nvPr>
            <p:ph type="subTitle" idx="1"/>
          </p:nvPr>
        </p:nvSpPr>
        <p:spPr bwMode="auto">
          <a:xfrm>
            <a:off x="341906" y="958715"/>
            <a:ext cx="8460188" cy="4207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Existing traffic management systems mainly use </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fixed-time signal control</a:t>
            </a: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where signal durations are pre-defined and do not change based on real-time traffic conditions.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These systems rely on </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manual monitoring</a:t>
            </a: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or basic sensors, which limits their ability to handle dynamic traffic situations effectively.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There is </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no proper prediction mechanism</a:t>
            </a: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in traditional systems, so congestion is handled only after it occurs.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Most systems lack </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integration between components</a:t>
            </a: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such as monitoring, control, and analysis, reducing overall efficiency.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The absence of intelligent decision-making leads to </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long waiting times, increased fuel consumption, and traffic congestion</a:t>
            </a: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p>
          <a:p>
            <a:pPr marL="285750" lvl="0" indent="-285750" algn="l" eaLnBrk="0" fontAlgn="base" hangingPunct="0">
              <a:lnSpc>
                <a:spcPct val="150000"/>
              </a:lnSpc>
              <a:spcBef>
                <a:spcPct val="0"/>
              </a:spcBef>
              <a:spcAft>
                <a:spcPct val="0"/>
              </a:spcAft>
              <a:buFont typeface="Arial" panose="020B0604020202020204" pitchFamily="34" charset="0"/>
              <a:buChar char="•"/>
            </a:pPr>
            <a:r>
              <a:rPr lang="en-US" altLang="en-US" sz="1400" dirty="0">
                <a:latin typeface="Arial" panose="020B0604020202020204" pitchFamily="34" charset="0"/>
                <a:cs typeface="Arial" panose="020B0604020202020204" pitchFamily="34" charset="0"/>
              </a:rPr>
              <a:t>This system predicts congestion using Random Forest ML (R2 = 0.93) on 48,204-record dataset</a:t>
            </a:r>
          </a:p>
          <a:p>
            <a:pPr marL="285750" lvl="0" indent="-285750" algn="l" eaLnBrk="0" fontAlgn="base" hangingPunct="0">
              <a:lnSpc>
                <a:spcPct val="150000"/>
              </a:lnSpc>
              <a:spcBef>
                <a:spcPct val="0"/>
              </a:spcBef>
              <a:spcAft>
                <a:spcPct val="0"/>
              </a:spcAft>
              <a:buFont typeface="Arial" panose="020B0604020202020204" pitchFamily="34" charset="0"/>
              <a:buChar char="•"/>
            </a:pPr>
            <a:r>
              <a:rPr lang="en-US" altLang="en-US" sz="1400" dirty="0">
                <a:latin typeface="Arial" panose="020B0604020202020204" pitchFamily="34" charset="0"/>
                <a:cs typeface="Arial" panose="020B0604020202020204" pitchFamily="34" charset="0"/>
              </a:rPr>
              <a:t>Optimizes </a:t>
            </a:r>
            <a:r>
              <a:rPr lang="en-US" altLang="en-US" sz="1400" b="1" dirty="0">
                <a:latin typeface="Arial" panose="020B0604020202020204" pitchFamily="34" charset="0"/>
                <a:cs typeface="Arial" panose="020B0604020202020204" pitchFamily="34" charset="0"/>
              </a:rPr>
              <a:t>5000+ vehicles simultaneously </a:t>
            </a:r>
            <a:r>
              <a:rPr lang="en-US" altLang="en-US" sz="1400" dirty="0">
                <a:latin typeface="Arial" panose="020B0604020202020204" pitchFamily="34" charset="0"/>
                <a:cs typeface="Arial" panose="020B0604020202020204" pitchFamily="34" charset="0"/>
              </a:rPr>
              <a:t>using QUBO (Fujitsu Digital Annealer approach) </a:t>
            </a:r>
            <a:endPar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36835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4552" y="217025"/>
            <a:ext cx="6777508" cy="639202"/>
          </a:xfrm>
        </p:spPr>
        <p:txBody>
          <a:bodyPr/>
          <a:lstStyle/>
          <a:p>
            <a:br>
              <a:rPr lang="en-IN" sz="2800" b="0" dirty="0">
                <a:solidFill>
                  <a:srgbClr val="660066"/>
                </a:solidFill>
                <a:latin typeface="Arial" panose="020B0604020202020204" pitchFamily="34" charset="0"/>
                <a:cs typeface="Arial" panose="020B0604020202020204" pitchFamily="34" charset="0"/>
              </a:rPr>
            </a:br>
            <a:r>
              <a:rPr lang="en-IN" sz="2800" b="0" dirty="0">
                <a:solidFill>
                  <a:srgbClr val="660066"/>
                </a:solidFill>
                <a:latin typeface="Arial" panose="020B0604020202020204" pitchFamily="34" charset="0"/>
                <a:cs typeface="Arial" panose="020B0604020202020204" pitchFamily="34" charset="0"/>
              </a:rPr>
              <a:t> </a:t>
            </a:r>
            <a:endParaRPr lang="en-IN" sz="2800" dirty="0">
              <a:solidFill>
                <a:srgbClr val="660066"/>
              </a:solidFill>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362857" y="1318327"/>
            <a:ext cx="8418286" cy="5307760"/>
          </a:xfrm>
        </p:spPr>
        <p:txBody>
          <a:bodyPr>
            <a:noAutofit/>
          </a:bodyPr>
          <a:lstStyle/>
          <a:p>
            <a:pPr algn="just">
              <a:defRPr/>
            </a:pPr>
            <a:r>
              <a:rPr lang="en-US" sz="2000" b="1" dirty="0">
                <a:solidFill>
                  <a:srgbClr val="FF0000"/>
                </a:solidFill>
                <a:latin typeface="Arial" panose="020B0604020202020204" pitchFamily="34" charset="0"/>
                <a:cs typeface="Arial" panose="020B0604020202020204" pitchFamily="34" charset="0"/>
              </a:rPr>
              <a:t>Problem Definition</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sz="1400" dirty="0">
                <a:latin typeface="Arial" panose="020B0604020202020204" pitchFamily="34" charset="0"/>
                <a:cs typeface="Arial" panose="020B0604020202020204" pitchFamily="34" charset="0"/>
              </a:rPr>
              <a:t>Increasing traffic congestion due to rapid growth in vehicle population </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sz="1400" dirty="0">
                <a:latin typeface="Arial" panose="020B0604020202020204" pitchFamily="34" charset="0"/>
                <a:cs typeface="Arial" panose="020B0604020202020204" pitchFamily="34" charset="0"/>
              </a:rPr>
              <a:t>Inefficient fixed-time traffic signals that do not adapt to real-time conditions </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sz="1400" dirty="0">
                <a:latin typeface="Arial" panose="020B0604020202020204" pitchFamily="34" charset="0"/>
                <a:cs typeface="Arial" panose="020B0604020202020204" pitchFamily="34" charset="0"/>
              </a:rPr>
              <a:t>Delay in detecting accidents and emergency situations </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sz="1400" dirty="0">
                <a:latin typeface="Arial" panose="020B0604020202020204" pitchFamily="34" charset="0"/>
                <a:cs typeface="Arial" panose="020B0604020202020204" pitchFamily="34" charset="0"/>
              </a:rPr>
              <a:t>Lack of coordination between traffic monitoring and control systems </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altLang="en-US" sz="1400" dirty="0">
                <a:latin typeface="Arial" panose="020B0604020202020204" pitchFamily="34" charset="0"/>
                <a:cs typeface="Arial" panose="020B0604020202020204" pitchFamily="34" charset="0"/>
              </a:rPr>
              <a:t>Poor utilization of available road infrastructure </a:t>
            </a:r>
            <a:endParaRPr lang="en-IN" sz="2000" b="1" dirty="0">
              <a:solidFill>
                <a:srgbClr val="FF0000"/>
              </a:solidFill>
              <a:latin typeface="Arial" panose="020B0604020202020204" pitchFamily="34" charset="0"/>
              <a:cs typeface="Arial" panose="020B0604020202020204" pitchFamily="34" charset="0"/>
            </a:endParaRPr>
          </a:p>
          <a:p>
            <a:pPr algn="just">
              <a:defRPr/>
            </a:pPr>
            <a:r>
              <a:rPr lang="en-US" sz="2000" b="1" dirty="0">
                <a:solidFill>
                  <a:srgbClr val="FF0000"/>
                </a:solidFill>
                <a:latin typeface="Arial" panose="020B0604020202020204" pitchFamily="34" charset="0"/>
                <a:cs typeface="Arial" panose="020B0604020202020204" pitchFamily="34" charset="0"/>
              </a:rPr>
              <a:t>Scope</a:t>
            </a:r>
          </a:p>
          <a:p>
            <a:pPr algn="just">
              <a:defRPr/>
            </a:pPr>
            <a:endParaRPr lang="en-IN" sz="2000" b="1" dirty="0">
              <a:solidFill>
                <a:srgbClr val="FF0000"/>
              </a:solidFill>
              <a:latin typeface="Arial" panose="020B0604020202020204" pitchFamily="34" charset="0"/>
              <a:cs typeface="Arial" panose="020B0604020202020204" pitchFamily="34" charset="0"/>
            </a:endParaRPr>
          </a:p>
          <a:p>
            <a:pPr algn="just"/>
            <a:r>
              <a:rPr lang="en-IN" sz="2000" dirty="0">
                <a:solidFill>
                  <a:srgbClr val="002060"/>
                </a:solidFill>
                <a:latin typeface="Arial" panose="020B0604020202020204" pitchFamily="34" charset="0"/>
                <a:cs typeface="Arial" panose="020B0604020202020204" pitchFamily="34" charset="0"/>
              </a:rPr>
              <a:t> </a:t>
            </a:r>
          </a:p>
        </p:txBody>
      </p:sp>
      <p:sp>
        <p:nvSpPr>
          <p:cNvPr id="4" name="Date Placeholder 3"/>
          <p:cNvSpPr>
            <a:spLocks noGrp="1"/>
          </p:cNvSpPr>
          <p:nvPr>
            <p:ph type="dt" sz="half" idx="10"/>
          </p:nvPr>
        </p:nvSpPr>
        <p:spPr/>
        <p:txBody>
          <a:bodyPr/>
          <a:lstStyle/>
          <a:p>
            <a:r>
              <a:rPr lang="en-IN" dirty="0"/>
              <a:t>16-04-2026</a:t>
            </a:r>
          </a:p>
        </p:txBody>
      </p:sp>
      <p:sp>
        <p:nvSpPr>
          <p:cNvPr id="5" name="Footer Placeholder 4"/>
          <p:cNvSpPr>
            <a:spLocks noGrp="1"/>
          </p:cNvSpPr>
          <p:nvPr>
            <p:ph type="ftr" sz="quarter" idx="11"/>
          </p:nvPr>
        </p:nvSpPr>
        <p:spPr/>
        <p:txBody>
          <a:bodyPr/>
          <a:lstStyle/>
          <a:p>
            <a:r>
              <a:rPr lang="en-US" b="1" dirty="0"/>
              <a:t>SREC-ECE</a:t>
            </a:r>
            <a:endParaRPr lang="en-IN" b="1" dirty="0"/>
          </a:p>
        </p:txBody>
      </p:sp>
      <p:sp>
        <p:nvSpPr>
          <p:cNvPr id="6" name="Slide Number Placeholder 5"/>
          <p:cNvSpPr>
            <a:spLocks noGrp="1"/>
          </p:cNvSpPr>
          <p:nvPr>
            <p:ph type="sldNum" sz="quarter" idx="12"/>
          </p:nvPr>
        </p:nvSpPr>
        <p:spPr/>
        <p:txBody>
          <a:bodyPr/>
          <a:lstStyle/>
          <a:p>
            <a:r>
              <a:rPr lang="en-US" dirty="0"/>
              <a:t>3</a:t>
            </a:r>
            <a:endParaRPr lang="en-IN" dirty="0"/>
          </a:p>
        </p:txBody>
      </p:sp>
      <p:sp>
        <p:nvSpPr>
          <p:cNvPr id="7" name="Rectangle 6"/>
          <p:cNvSpPr/>
          <p:nvPr/>
        </p:nvSpPr>
        <p:spPr>
          <a:xfrm>
            <a:off x="1516487" y="292009"/>
            <a:ext cx="6111025" cy="707886"/>
          </a:xfrm>
          <a:prstGeom prst="rect">
            <a:avLst/>
          </a:prstGeom>
        </p:spPr>
        <p:txBody>
          <a:bodyPr wrap="square">
            <a:spAutoFit/>
          </a:bodyPr>
          <a:lstStyle/>
          <a:p>
            <a:pPr algn="ctr"/>
            <a:r>
              <a:rPr lang="en-US" sz="2000" b="1" dirty="0">
                <a:solidFill>
                  <a:schemeClr val="accent6">
                    <a:lumMod val="50000"/>
                  </a:schemeClr>
                </a:solidFill>
                <a:latin typeface="Arial" panose="020B0604020202020204" pitchFamily="34" charset="0"/>
                <a:cs typeface="Arial" panose="020B0604020202020204" pitchFamily="34" charset="0"/>
              </a:rPr>
              <a:t>Problem identification, scope and objectives (Contd.,)</a:t>
            </a:r>
            <a:endParaRPr lang="en-IN" sz="2000" dirty="0">
              <a:solidFill>
                <a:schemeClr val="accent6">
                  <a:lumMod val="50000"/>
                </a:schemeClr>
              </a:solidFill>
              <a:latin typeface="Arial" panose="020B0604020202020204" pitchFamily="34" charset="0"/>
              <a:cs typeface="Arial" panose="020B0604020202020204" pitchFamily="34" charset="0"/>
            </a:endParaRPr>
          </a:p>
        </p:txBody>
      </p:sp>
      <p:sp>
        <p:nvSpPr>
          <p:cNvPr id="8" name="Rectangle 1">
            <a:extLst>
              <a:ext uri="{FF2B5EF4-FFF2-40B4-BE49-F238E27FC236}">
                <a16:creationId xmlns:a16="http://schemas.microsoft.com/office/drawing/2014/main" id="{B9EEDA8A-E18A-90D5-8681-842496F9A7CE}"/>
              </a:ext>
            </a:extLst>
          </p:cNvPr>
          <p:cNvSpPr>
            <a:spLocks noChangeArrowheads="1"/>
          </p:cNvSpPr>
          <p:nvPr/>
        </p:nvSpPr>
        <p:spPr bwMode="auto">
          <a:xfrm>
            <a:off x="362856" y="3816151"/>
            <a:ext cx="8152493" cy="19913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Development of an </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AI-based intelligent traffic management system</a:t>
            </a: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with QUBO optimization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Traffic congestion prediction using </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machine learning models</a:t>
            </a: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Dynamic optimization of traffic signals to reduce waiting time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Incident detection and alert system for </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emergency handling</a:t>
            </a: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Implementation through a </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centralized dashboard for monitoring and control</a:t>
            </a: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Suitable for </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smart city applications and urban traffic systems</a:t>
            </a: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288150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4552" y="217025"/>
            <a:ext cx="6777508" cy="639202"/>
          </a:xfrm>
        </p:spPr>
        <p:txBody>
          <a:bodyPr/>
          <a:lstStyle/>
          <a:p>
            <a:br>
              <a:rPr lang="en-IN" sz="2800" b="0" dirty="0">
                <a:solidFill>
                  <a:srgbClr val="660066"/>
                </a:solidFill>
                <a:latin typeface="Arial" panose="020B0604020202020204" pitchFamily="34" charset="0"/>
                <a:cs typeface="Arial" panose="020B0604020202020204" pitchFamily="34" charset="0"/>
              </a:rPr>
            </a:br>
            <a:r>
              <a:rPr lang="en-IN" sz="2800" b="0" dirty="0">
                <a:solidFill>
                  <a:srgbClr val="660066"/>
                </a:solidFill>
                <a:latin typeface="Arial" panose="020B0604020202020204" pitchFamily="34" charset="0"/>
                <a:cs typeface="Arial" panose="020B0604020202020204" pitchFamily="34" charset="0"/>
              </a:rPr>
              <a:t> </a:t>
            </a:r>
            <a:endParaRPr lang="en-IN" sz="2800" dirty="0">
              <a:solidFill>
                <a:srgbClr val="660066"/>
              </a:solidFill>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362857" y="1318327"/>
            <a:ext cx="8418286" cy="5307760"/>
          </a:xfrm>
        </p:spPr>
        <p:txBody>
          <a:bodyPr>
            <a:noAutofit/>
          </a:bodyPr>
          <a:lstStyle/>
          <a:p>
            <a:pPr algn="just"/>
            <a:r>
              <a:rPr lang="en-IN" sz="2000" dirty="0">
                <a:solidFill>
                  <a:srgbClr val="002060"/>
                </a:solidFill>
                <a:latin typeface="Arial" panose="020B0604020202020204" pitchFamily="34" charset="0"/>
                <a:cs typeface="Arial" panose="020B0604020202020204" pitchFamily="34" charset="0"/>
              </a:rPr>
              <a:t> </a:t>
            </a:r>
          </a:p>
        </p:txBody>
      </p:sp>
      <p:sp>
        <p:nvSpPr>
          <p:cNvPr id="4" name="Date Placeholder 3"/>
          <p:cNvSpPr>
            <a:spLocks noGrp="1"/>
          </p:cNvSpPr>
          <p:nvPr>
            <p:ph type="dt" sz="half" idx="10"/>
          </p:nvPr>
        </p:nvSpPr>
        <p:spPr/>
        <p:txBody>
          <a:bodyPr/>
          <a:lstStyle/>
          <a:p>
            <a:r>
              <a:rPr lang="en-IN" dirty="0"/>
              <a:t>16-04-2026</a:t>
            </a:r>
          </a:p>
        </p:txBody>
      </p:sp>
      <p:sp>
        <p:nvSpPr>
          <p:cNvPr id="5" name="Footer Placeholder 4"/>
          <p:cNvSpPr>
            <a:spLocks noGrp="1"/>
          </p:cNvSpPr>
          <p:nvPr>
            <p:ph type="ftr" sz="quarter" idx="11"/>
          </p:nvPr>
        </p:nvSpPr>
        <p:spPr/>
        <p:txBody>
          <a:bodyPr/>
          <a:lstStyle/>
          <a:p>
            <a:r>
              <a:rPr lang="en-US" b="1" dirty="0"/>
              <a:t>SREC-ECE</a:t>
            </a:r>
            <a:endParaRPr lang="en-IN" b="1" dirty="0"/>
          </a:p>
        </p:txBody>
      </p:sp>
      <p:sp>
        <p:nvSpPr>
          <p:cNvPr id="6" name="Slide Number Placeholder 5"/>
          <p:cNvSpPr>
            <a:spLocks noGrp="1"/>
          </p:cNvSpPr>
          <p:nvPr>
            <p:ph type="sldNum" sz="quarter" idx="12"/>
          </p:nvPr>
        </p:nvSpPr>
        <p:spPr/>
        <p:txBody>
          <a:bodyPr/>
          <a:lstStyle/>
          <a:p>
            <a:r>
              <a:rPr lang="en-US" dirty="0"/>
              <a:t>3</a:t>
            </a:r>
            <a:endParaRPr lang="en-IN" dirty="0"/>
          </a:p>
        </p:txBody>
      </p:sp>
      <p:sp>
        <p:nvSpPr>
          <p:cNvPr id="7" name="Rectangle 6"/>
          <p:cNvSpPr/>
          <p:nvPr/>
        </p:nvSpPr>
        <p:spPr>
          <a:xfrm>
            <a:off x="1516487" y="292009"/>
            <a:ext cx="6111025" cy="400110"/>
          </a:xfrm>
          <a:prstGeom prst="rect">
            <a:avLst/>
          </a:prstGeom>
        </p:spPr>
        <p:txBody>
          <a:bodyPr wrap="square">
            <a:spAutoFit/>
          </a:bodyPr>
          <a:lstStyle/>
          <a:p>
            <a:pPr algn="ctr"/>
            <a:r>
              <a:rPr lang="en-US" sz="2000" b="1" dirty="0">
                <a:solidFill>
                  <a:schemeClr val="accent6">
                    <a:lumMod val="50000"/>
                  </a:schemeClr>
                </a:solidFill>
                <a:latin typeface="Arial" panose="020B0604020202020204" pitchFamily="34" charset="0"/>
                <a:cs typeface="Arial" panose="020B0604020202020204" pitchFamily="34" charset="0"/>
              </a:rPr>
              <a:t>Problem identification, scope and objectives</a:t>
            </a:r>
            <a:endParaRPr lang="en-IN" sz="2000" dirty="0">
              <a:solidFill>
                <a:schemeClr val="accent6">
                  <a:lumMod val="50000"/>
                </a:schemeClr>
              </a:solidFill>
              <a:latin typeface="Arial" panose="020B0604020202020204" pitchFamily="34" charset="0"/>
              <a:cs typeface="Arial" panose="020B0604020202020204" pitchFamily="34" charset="0"/>
            </a:endParaRPr>
          </a:p>
        </p:txBody>
      </p:sp>
      <p:sp>
        <p:nvSpPr>
          <p:cNvPr id="10" name="Rectangle 9"/>
          <p:cNvSpPr/>
          <p:nvPr/>
        </p:nvSpPr>
        <p:spPr>
          <a:xfrm>
            <a:off x="362857" y="1318327"/>
            <a:ext cx="8152493" cy="3077766"/>
          </a:xfrm>
          <a:prstGeom prst="rect">
            <a:avLst/>
          </a:prstGeom>
        </p:spPr>
        <p:txBody>
          <a:bodyPr wrap="square">
            <a:spAutoFit/>
          </a:bodyPr>
          <a:lstStyle/>
          <a:p>
            <a:pPr algn="just">
              <a:defRPr/>
            </a:pPr>
            <a:r>
              <a:rPr lang="en-US" sz="2500" b="1" dirty="0">
                <a:solidFill>
                  <a:srgbClr val="FF0000"/>
                </a:solidFill>
                <a:latin typeface="Arial" panose="020B0604020202020204" pitchFamily="34" charset="0"/>
                <a:cs typeface="Arial" panose="020B0604020202020204" pitchFamily="34" charset="0"/>
              </a:rPr>
              <a:t>Objectives </a:t>
            </a:r>
          </a:p>
          <a:p>
            <a:pPr marL="342900" indent="-342900" algn="just">
              <a:buFont typeface="Arial" panose="020B0604020202020204" pitchFamily="34" charset="0"/>
              <a:buChar char="•"/>
              <a:defRPr/>
            </a:pPr>
            <a:endParaRPr lang="en-US" sz="2500" b="1" dirty="0">
              <a:solidFill>
                <a:srgbClr val="FF0000"/>
              </a:solidFill>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defRPr/>
            </a:pPr>
            <a:r>
              <a:rPr lang="en-US" sz="1400" dirty="0">
                <a:latin typeface="Arial" panose="020B0604020202020204" pitchFamily="34" charset="0"/>
                <a:cs typeface="Arial" panose="020B0604020202020204" pitchFamily="34" charset="0"/>
              </a:rPr>
              <a:t>To predict congestion using </a:t>
            </a:r>
            <a:r>
              <a:rPr lang="en-US" sz="1400" b="1" dirty="0">
                <a:latin typeface="Arial" panose="020B0604020202020204" pitchFamily="34" charset="0"/>
                <a:cs typeface="Arial" panose="020B0604020202020204" pitchFamily="34" charset="0"/>
              </a:rPr>
              <a:t>AI and data-driven techniques</a:t>
            </a:r>
            <a:r>
              <a:rPr lang="en-US" sz="1400" dirty="0">
                <a:latin typeface="Arial" panose="020B0604020202020204" pitchFamily="34" charset="0"/>
                <a:cs typeface="Arial" panose="020B0604020202020204" pitchFamily="34" charset="0"/>
              </a:rPr>
              <a:t> </a:t>
            </a:r>
          </a:p>
          <a:p>
            <a:pPr marL="285750" indent="-285750" algn="just">
              <a:lnSpc>
                <a:spcPct val="150000"/>
              </a:lnSpc>
              <a:buFont typeface="Arial" panose="020B0604020202020204" pitchFamily="34" charset="0"/>
              <a:buChar char="•"/>
            </a:pPr>
            <a:r>
              <a:rPr lang="en-US" sz="1400" dirty="0">
                <a:latin typeface="Arial" panose="020B0604020202020204" pitchFamily="34" charset="0"/>
                <a:cs typeface="Arial" panose="020B0604020202020204" pitchFamily="34" charset="0"/>
              </a:rPr>
              <a:t>To reduce </a:t>
            </a:r>
            <a:r>
              <a:rPr lang="en-US" sz="1400" b="1" dirty="0">
                <a:latin typeface="Arial" panose="020B0604020202020204" pitchFamily="34" charset="0"/>
                <a:cs typeface="Arial" panose="020B0604020202020204" pitchFamily="34" charset="0"/>
              </a:rPr>
              <a:t>traffic delays, fuel consumption, and pollution</a:t>
            </a:r>
            <a:r>
              <a:rPr lang="en-US" sz="1400" dirty="0">
                <a:latin typeface="Arial" panose="020B0604020202020204" pitchFamily="34" charset="0"/>
                <a:cs typeface="Arial" panose="020B0604020202020204" pitchFamily="34" charset="0"/>
              </a:rPr>
              <a:t>  </a:t>
            </a:r>
          </a:p>
          <a:p>
            <a:pPr marL="285750" indent="-285750" algn="just">
              <a:lnSpc>
                <a:spcPct val="150000"/>
              </a:lnSpc>
              <a:buFont typeface="Arial" panose="020B0604020202020204" pitchFamily="34" charset="0"/>
              <a:buChar char="•"/>
            </a:pPr>
            <a:r>
              <a:rPr lang="en-US" sz="1400" dirty="0">
                <a:latin typeface="Arial" panose="020B0604020202020204" pitchFamily="34" charset="0"/>
                <a:cs typeface="Arial" panose="020B0604020202020204" pitchFamily="34" charset="0"/>
              </a:rPr>
              <a:t>To enhance overall </a:t>
            </a:r>
            <a:r>
              <a:rPr lang="en-US" sz="1400" b="1" dirty="0">
                <a:latin typeface="Arial" panose="020B0604020202020204" pitchFamily="34" charset="0"/>
                <a:cs typeface="Arial" panose="020B0604020202020204" pitchFamily="34" charset="0"/>
              </a:rPr>
              <a:t>traffic efficiency and management</a:t>
            </a:r>
          </a:p>
          <a:p>
            <a:pPr marL="285750" indent="-285750" algn="just">
              <a:lnSpc>
                <a:spcPct val="150000"/>
              </a:lnSpc>
              <a:buFont typeface="Arial" panose="020B0604020202020204" pitchFamily="34" charset="0"/>
              <a:buChar char="•"/>
            </a:pPr>
            <a:r>
              <a:rPr lang="en-US" sz="1400" dirty="0">
                <a:latin typeface="Arial" panose="020B0604020202020204" pitchFamily="34" charset="0"/>
                <a:cs typeface="Arial" panose="020B0604020202020204" pitchFamily="34" charset="0"/>
              </a:rPr>
              <a:t>To </a:t>
            </a:r>
            <a:r>
              <a:rPr lang="en-US" sz="1400" b="1" dirty="0">
                <a:latin typeface="Arial" panose="020B0604020202020204" pitchFamily="34" charset="0"/>
                <a:cs typeface="Arial" panose="020B0604020202020204" pitchFamily="34" charset="0"/>
              </a:rPr>
              <a:t>optimize traffic flow using QUBO-based optimization</a:t>
            </a:r>
          </a:p>
          <a:p>
            <a:pPr marL="285750" indent="-285750" algn="just">
              <a:lnSpc>
                <a:spcPct val="150000"/>
              </a:lnSpc>
              <a:buFont typeface="Arial" panose="020B0604020202020204" pitchFamily="34" charset="0"/>
              <a:buChar char="•"/>
            </a:pPr>
            <a:r>
              <a:rPr lang="en-US" sz="1400" dirty="0">
                <a:latin typeface="Arial" panose="020B0604020202020204" pitchFamily="34" charset="0"/>
                <a:cs typeface="Arial" panose="020B0604020202020204" pitchFamily="34" charset="0"/>
              </a:rPr>
              <a:t>To create a </a:t>
            </a:r>
            <a:r>
              <a:rPr lang="en-US" sz="1400" b="1" dirty="0">
                <a:latin typeface="Arial" panose="020B0604020202020204" pitchFamily="34" charset="0"/>
                <a:cs typeface="Arial" panose="020B0604020202020204" pitchFamily="34" charset="0"/>
              </a:rPr>
              <a:t>digital twin model for real-time traffic simulation</a:t>
            </a:r>
            <a:r>
              <a:rPr lang="en-US" sz="1400" dirty="0">
                <a:latin typeface="Arial" panose="020B0604020202020204" pitchFamily="34" charset="0"/>
                <a:cs typeface="Arial" panose="020B0604020202020204" pitchFamily="34" charset="0"/>
              </a:rPr>
              <a:t>.</a:t>
            </a:r>
          </a:p>
          <a:p>
            <a:pPr algn="just">
              <a:lnSpc>
                <a:spcPct val="150000"/>
              </a:lnSpc>
            </a:pPr>
            <a:endParaRPr lang="en-US" sz="1400" b="1" dirty="0">
              <a:latin typeface="Arial" panose="020B0604020202020204" pitchFamily="34" charset="0"/>
              <a:cs typeface="Arial" panose="020B0604020202020204" pitchFamily="34" charset="0"/>
            </a:endParaRPr>
          </a:p>
          <a:p>
            <a:pPr algn="just">
              <a:defRPr/>
            </a:pPr>
            <a:endParaRPr lang="en-IN" sz="25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2328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ltLang="en-US" sz="2800" b="1" dirty="0">
                <a:solidFill>
                  <a:srgbClr val="7030A0"/>
                </a:solidFill>
                <a:latin typeface="Arial" panose="020B0604020202020204" pitchFamily="34" charset="0"/>
                <a:cs typeface="Arial" panose="020B0604020202020204" pitchFamily="34" charset="0"/>
              </a:rPr>
              <a:t>Literature Survey - 01</a:t>
            </a:r>
          </a:p>
        </p:txBody>
      </p:sp>
      <p:sp>
        <p:nvSpPr>
          <p:cNvPr id="9219" name="Content Placeholder 2"/>
          <p:cNvSpPr>
            <a:spLocks noGrp="1"/>
          </p:cNvSpPr>
          <p:nvPr>
            <p:ph idx="1"/>
          </p:nvPr>
        </p:nvSpPr>
        <p:spPr/>
        <p:txBody>
          <a:bodyPr>
            <a:normAutofit/>
          </a:bodyPr>
          <a:lstStyle/>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a:defRPr/>
            </a:pPr>
            <a:r>
              <a:rPr lang="en-US" sz="2000" b="1" dirty="0">
                <a:solidFill>
                  <a:srgbClr val="002060"/>
                </a:solidFill>
                <a:latin typeface="Arial" panose="020B0604020202020204" pitchFamily="34" charset="0"/>
                <a:cs typeface="Arial" panose="020B0604020202020204" pitchFamily="34" charset="0"/>
              </a:rPr>
              <a:t>Source</a:t>
            </a:r>
            <a:r>
              <a:rPr lang="en-US" sz="2400" b="1" dirty="0">
                <a:solidFill>
                  <a:srgbClr val="002060"/>
                </a:solidFill>
                <a:latin typeface="Arial" panose="020B0604020202020204" pitchFamily="34" charset="0"/>
                <a:cs typeface="Arial" panose="020B0604020202020204" pitchFamily="34" charset="0"/>
              </a:rPr>
              <a:t>: </a:t>
            </a:r>
            <a:r>
              <a:rPr lang="en-US" sz="1700" dirty="0">
                <a:solidFill>
                  <a:srgbClr val="002060"/>
                </a:solidFill>
                <a:latin typeface="Arial" panose="020B0604020202020204" pitchFamily="34" charset="0"/>
                <a:cs typeface="Arial" panose="020B0604020202020204" pitchFamily="34" charset="0"/>
              </a:rPr>
              <a:t>C. Chen, Y. Zhang, and L. Li, </a:t>
            </a:r>
            <a:r>
              <a:rPr lang="en-US" sz="1700" i="1" dirty="0">
                <a:solidFill>
                  <a:srgbClr val="002060"/>
                </a:solidFill>
                <a:latin typeface="Arial" panose="020B0604020202020204" pitchFamily="34" charset="0"/>
                <a:cs typeface="Arial" panose="020B0604020202020204" pitchFamily="34" charset="0"/>
              </a:rPr>
              <a:t>“Traffic Congestion Prediction Based on GPS Data,”</a:t>
            </a:r>
            <a:r>
              <a:rPr lang="en-US" sz="1700" dirty="0">
                <a:solidFill>
                  <a:srgbClr val="002060"/>
                </a:solidFill>
                <a:latin typeface="Arial" panose="020B0604020202020204" pitchFamily="34" charset="0"/>
                <a:cs typeface="Arial" panose="020B0604020202020204" pitchFamily="34" charset="0"/>
              </a:rPr>
              <a:t> Journal of Transportation Engineering,</a:t>
            </a:r>
            <a:r>
              <a:rPr lang="en-US" sz="1700" dirty="0">
                <a:latin typeface="Arial" panose="020B0604020202020204" pitchFamily="34" charset="0"/>
                <a:cs typeface="Arial" panose="020B0604020202020204" pitchFamily="34" charset="0"/>
              </a:rPr>
              <a:t> </a:t>
            </a:r>
            <a:r>
              <a:rPr lang="en-US" sz="1700" dirty="0">
                <a:solidFill>
                  <a:srgbClr val="C00000"/>
                </a:solidFill>
                <a:latin typeface="Arial" panose="020B0604020202020204" pitchFamily="34" charset="0"/>
                <a:cs typeface="Arial" panose="020B0604020202020204" pitchFamily="34" charset="0"/>
              </a:rPr>
              <a:t>vol. 12, issue 12</a:t>
            </a:r>
            <a:r>
              <a:rPr lang="en-US" sz="1700" dirty="0">
                <a:latin typeface="Arial" panose="020B0604020202020204" pitchFamily="34" charset="0"/>
                <a:cs typeface="Arial" panose="020B0604020202020204" pitchFamily="34" charset="0"/>
              </a:rPr>
              <a:t>, </a:t>
            </a:r>
            <a:r>
              <a:rPr lang="en-US" sz="1700" dirty="0">
                <a:solidFill>
                  <a:srgbClr val="00B050"/>
                </a:solidFill>
                <a:latin typeface="Arial" panose="020B0604020202020204" pitchFamily="34" charset="0"/>
                <a:cs typeface="Arial" panose="020B0604020202020204" pitchFamily="34" charset="0"/>
              </a:rPr>
              <a:t>2022, pp. 157–168.</a:t>
            </a:r>
          </a:p>
        </p:txBody>
      </p:sp>
      <p:sp>
        <p:nvSpPr>
          <p:cNvPr id="1843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0FB9661-A7A0-47A7-9DEF-DB72C08D3539}" type="slidenum">
              <a:rPr lang="en-IN" altLang="en-US" sz="1200">
                <a:solidFill>
                  <a:srgbClr val="898989"/>
                </a:solidFill>
              </a:rPr>
              <a:pPr>
                <a:spcBef>
                  <a:spcPct val="0"/>
                </a:spcBef>
                <a:buFontTx/>
                <a:buNone/>
              </a:pPr>
              <a:t>6</a:t>
            </a:fld>
            <a:endParaRPr lang="en-IN" altLang="en-US" sz="1200">
              <a:solidFill>
                <a:srgbClr val="898989"/>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3203731791"/>
              </p:ext>
            </p:extLst>
          </p:nvPr>
        </p:nvGraphicFramePr>
        <p:xfrm>
          <a:off x="539750" y="1641475"/>
          <a:ext cx="7704139" cy="2978150"/>
        </p:xfrm>
        <a:graphic>
          <a:graphicData uri="http://schemas.openxmlformats.org/drawingml/2006/table">
            <a:tbl>
              <a:tblPr firstRow="1" bandRow="1">
                <a:tableStyleId>{5C22544A-7EE6-4342-B048-85BDC9FD1C3A}</a:tableStyleId>
              </a:tblPr>
              <a:tblGrid>
                <a:gridCol w="2712049">
                  <a:extLst>
                    <a:ext uri="{9D8B030D-6E8A-4147-A177-3AD203B41FA5}">
                      <a16:colId xmlns:a16="http://schemas.microsoft.com/office/drawing/2014/main" val="20000"/>
                    </a:ext>
                  </a:extLst>
                </a:gridCol>
                <a:gridCol w="2496045">
                  <a:extLst>
                    <a:ext uri="{9D8B030D-6E8A-4147-A177-3AD203B41FA5}">
                      <a16:colId xmlns:a16="http://schemas.microsoft.com/office/drawing/2014/main" val="20001"/>
                    </a:ext>
                  </a:extLst>
                </a:gridCol>
                <a:gridCol w="2496045">
                  <a:extLst>
                    <a:ext uri="{9D8B030D-6E8A-4147-A177-3AD203B41FA5}">
                      <a16:colId xmlns:a16="http://schemas.microsoft.com/office/drawing/2014/main" val="20002"/>
                    </a:ext>
                  </a:extLst>
                </a:gridCol>
              </a:tblGrid>
              <a:tr h="36577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Experiment</a:t>
                      </a:r>
                    </a:p>
                  </a:txBody>
                  <a:tcPr marL="91436" marR="91436" marT="45716" marB="45716"/>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Inference</a:t>
                      </a:r>
                    </a:p>
                  </a:txBody>
                  <a:tcPr marL="91436" marR="91436" marT="45716" marB="45716"/>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Problem gap</a:t>
                      </a:r>
                    </a:p>
                  </a:txBody>
                  <a:tcPr marL="91436" marR="91436" marT="45716" marB="45716"/>
                </a:tc>
                <a:extLst>
                  <a:ext uri="{0D108BD9-81ED-4DB2-BD59-A6C34878D82A}">
                    <a16:rowId xmlns:a16="http://schemas.microsoft.com/office/drawing/2014/main" val="10000"/>
                  </a:ext>
                </a:extLst>
              </a:tr>
              <a:tr h="2612372">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Traffic congestion prediction using GPS trajectory data collected from vehicles to analyze movement patterns and traffic flow.</a:t>
                      </a:r>
                      <a:endParaRPr lang="en-US" sz="1800" dirty="0"/>
                    </a:p>
                    <a:p>
                      <a:pPr algn="just"/>
                      <a:endParaRPr lang="en-US" sz="1800" dirty="0"/>
                    </a:p>
                  </a:txBody>
                  <a:tcPr marL="91436" marR="91436" marT="45716" marB="45716"/>
                </a:tc>
                <a:tc>
                  <a:txBody>
                    <a:bodyPr/>
                    <a:lstStyle/>
                    <a:p>
                      <a:pPr algn="just"/>
                      <a:r>
                        <a:rPr lang="en-US" dirty="0"/>
                        <a:t>The model effectively predicts congestion levels using real-time and historical GPS data, improving traffic forecasting accuracy and enabling better traffic planning.</a:t>
                      </a:r>
                      <a:endParaRPr lang="en-US" sz="1800" dirty="0"/>
                    </a:p>
                  </a:txBody>
                  <a:tcPr marL="91436" marR="91436" marT="45716" marB="45716"/>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The system depends heavily on GPS data availability and lacks real-time optimization of traffic signals and integration with control mechanisms.</a:t>
                      </a:r>
                    </a:p>
                    <a:p>
                      <a:pPr algn="just"/>
                      <a:endParaRPr lang="en-US" sz="1800" dirty="0"/>
                    </a:p>
                  </a:txBody>
                  <a:tcPr marL="91436" marR="91436" marT="45716" marB="45716"/>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8373507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59774-10D1-3028-443E-271821884F0C}"/>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CA1C6260-2843-57C6-FB72-B640011FE20C}"/>
              </a:ext>
            </a:extLst>
          </p:cNvPr>
          <p:cNvSpPr>
            <a:spLocks noGrp="1"/>
          </p:cNvSpPr>
          <p:nvPr>
            <p:ph type="title"/>
          </p:nvPr>
        </p:nvSpPr>
        <p:spPr/>
        <p:txBody>
          <a:bodyPr/>
          <a:lstStyle/>
          <a:p>
            <a:r>
              <a:rPr lang="en-US" altLang="en-US" sz="2800" b="1" dirty="0">
                <a:solidFill>
                  <a:srgbClr val="7030A0"/>
                </a:solidFill>
                <a:latin typeface="Arial" panose="020B0604020202020204" pitchFamily="34" charset="0"/>
                <a:cs typeface="Arial" panose="020B0604020202020204" pitchFamily="34" charset="0"/>
              </a:rPr>
              <a:t>Literature Survey - 02</a:t>
            </a:r>
          </a:p>
        </p:txBody>
      </p:sp>
      <p:sp>
        <p:nvSpPr>
          <p:cNvPr id="9219" name="Content Placeholder 2">
            <a:extLst>
              <a:ext uri="{FF2B5EF4-FFF2-40B4-BE49-F238E27FC236}">
                <a16:creationId xmlns:a16="http://schemas.microsoft.com/office/drawing/2014/main" id="{B786CC80-448A-4734-8E28-7008B40959E0}"/>
              </a:ext>
            </a:extLst>
          </p:cNvPr>
          <p:cNvSpPr>
            <a:spLocks noGrp="1"/>
          </p:cNvSpPr>
          <p:nvPr>
            <p:ph idx="1"/>
          </p:nvPr>
        </p:nvSpPr>
        <p:spPr/>
        <p:txBody>
          <a:bodyPr>
            <a:normAutofit/>
          </a:bodyPr>
          <a:lstStyle/>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a:defRPr/>
            </a:pPr>
            <a:r>
              <a:rPr lang="en-US" sz="2400" b="1" dirty="0">
                <a:solidFill>
                  <a:srgbClr val="002060"/>
                </a:solidFill>
              </a:rPr>
              <a:t>Source: </a:t>
            </a:r>
            <a:r>
              <a:rPr lang="en-US" sz="1600" dirty="0">
                <a:solidFill>
                  <a:srgbClr val="002060"/>
                </a:solidFill>
                <a:latin typeface="Arial" panose="020B0604020202020204" pitchFamily="34" charset="0"/>
                <a:cs typeface="Arial" panose="020B0604020202020204" pitchFamily="34" charset="0"/>
              </a:rPr>
              <a:t>M. M. Rathore et al., </a:t>
            </a:r>
            <a:r>
              <a:rPr lang="en-US" sz="1600" i="1" dirty="0">
                <a:solidFill>
                  <a:srgbClr val="002060"/>
                </a:solidFill>
                <a:latin typeface="Arial" panose="020B0604020202020204" pitchFamily="34" charset="0"/>
                <a:cs typeface="Arial" panose="020B0604020202020204" pitchFamily="34" charset="0"/>
              </a:rPr>
              <a:t>“Smart Traffic Control Using Fog Devices,”</a:t>
            </a:r>
            <a:r>
              <a:rPr lang="en-US" sz="1600" dirty="0">
                <a:solidFill>
                  <a:srgbClr val="002060"/>
                </a:solidFill>
                <a:latin typeface="Arial" panose="020B0604020202020204" pitchFamily="34" charset="0"/>
                <a:cs typeface="Arial" panose="020B0604020202020204" pitchFamily="34" charset="0"/>
              </a:rPr>
              <a:t> Sustainable Cities and Society</a:t>
            </a:r>
            <a:r>
              <a:rPr lang="en-US" sz="1600" dirty="0">
                <a:latin typeface="Arial" panose="020B0604020202020204" pitchFamily="34" charset="0"/>
                <a:cs typeface="Arial" panose="020B0604020202020204" pitchFamily="34" charset="0"/>
              </a:rPr>
              <a:t>, </a:t>
            </a:r>
            <a:r>
              <a:rPr lang="en-US" sz="1600" dirty="0">
                <a:solidFill>
                  <a:srgbClr val="C00000"/>
                </a:solidFill>
                <a:latin typeface="Arial" panose="020B0604020202020204" pitchFamily="34" charset="0"/>
                <a:cs typeface="Arial" panose="020B0604020202020204" pitchFamily="34" charset="0"/>
              </a:rPr>
              <a:t>vol. 65</a:t>
            </a:r>
            <a:r>
              <a:rPr lang="en-US" sz="1600" dirty="0">
                <a:latin typeface="Arial" panose="020B0604020202020204" pitchFamily="34" charset="0"/>
                <a:cs typeface="Arial" panose="020B0604020202020204" pitchFamily="34" charset="0"/>
              </a:rPr>
              <a:t>, </a:t>
            </a:r>
            <a:r>
              <a:rPr lang="en-US" sz="1600" dirty="0">
                <a:solidFill>
                  <a:srgbClr val="00B050"/>
                </a:solidFill>
                <a:latin typeface="Arial" panose="020B0604020202020204" pitchFamily="34" charset="0"/>
                <a:cs typeface="Arial" panose="020B0604020202020204" pitchFamily="34" charset="0"/>
              </a:rPr>
              <a:t>2021.</a:t>
            </a:r>
            <a:r>
              <a:rPr lang="en-US" sz="1600" b="1" dirty="0">
                <a:solidFill>
                  <a:srgbClr val="00B050"/>
                </a:solidFill>
                <a:latin typeface="Arial" panose="020B0604020202020204" pitchFamily="34" charset="0"/>
                <a:cs typeface="Arial" panose="020B0604020202020204" pitchFamily="34" charset="0"/>
              </a:rPr>
              <a:t> </a:t>
            </a:r>
            <a:endParaRPr lang="en-US" sz="1600" dirty="0">
              <a:solidFill>
                <a:srgbClr val="00B050"/>
              </a:solidFill>
              <a:latin typeface="Arial" panose="020B0604020202020204" pitchFamily="34" charset="0"/>
              <a:cs typeface="Arial" panose="020B0604020202020204" pitchFamily="34" charset="0"/>
            </a:endParaRPr>
          </a:p>
        </p:txBody>
      </p:sp>
      <p:sp>
        <p:nvSpPr>
          <p:cNvPr id="18436" name="Slide Number Placeholder 3">
            <a:extLst>
              <a:ext uri="{FF2B5EF4-FFF2-40B4-BE49-F238E27FC236}">
                <a16:creationId xmlns:a16="http://schemas.microsoft.com/office/drawing/2014/main" id="{B66E59AE-F2E1-5B11-8B03-8AF5C340E29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fld id="{70FB9661-A7A0-47A7-9DEF-DB72C08D3539}" type="slidenum">
              <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l" defTabSz="914400" rtl="0" eaLnBrk="1" fontAlgn="auto" latinLnBrk="0" hangingPunct="1">
                <a:lnSpc>
                  <a:spcPct val="100000"/>
                </a:lnSpc>
                <a:spcBef>
                  <a:spcPct val="0"/>
                </a:spcBef>
                <a:spcAft>
                  <a:spcPts val="0"/>
                </a:spcAft>
                <a:buClrTx/>
                <a:buSzTx/>
                <a:buFontTx/>
                <a:buNone/>
                <a:tabLst/>
                <a:defRPr/>
              </a:pPr>
              <a:t>7</a:t>
            </a:fld>
            <a:endParaRPr kumimoji="0" lang="en-IN"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graphicFrame>
        <p:nvGraphicFramePr>
          <p:cNvPr id="2" name="Table 1">
            <a:extLst>
              <a:ext uri="{FF2B5EF4-FFF2-40B4-BE49-F238E27FC236}">
                <a16:creationId xmlns:a16="http://schemas.microsoft.com/office/drawing/2014/main" id="{B57BD77D-A81E-701F-1657-920BDD345823}"/>
              </a:ext>
            </a:extLst>
          </p:cNvPr>
          <p:cNvGraphicFramePr>
            <a:graphicFrameLocks noGrp="1"/>
          </p:cNvGraphicFramePr>
          <p:nvPr>
            <p:extLst>
              <p:ext uri="{D42A27DB-BD31-4B8C-83A1-F6EECF244321}">
                <p14:modId xmlns:p14="http://schemas.microsoft.com/office/powerpoint/2010/main" val="3596030033"/>
              </p:ext>
            </p:extLst>
          </p:nvPr>
        </p:nvGraphicFramePr>
        <p:xfrm>
          <a:off x="539750" y="1641475"/>
          <a:ext cx="7704139" cy="2978150"/>
        </p:xfrm>
        <a:graphic>
          <a:graphicData uri="http://schemas.openxmlformats.org/drawingml/2006/table">
            <a:tbl>
              <a:tblPr firstRow="1" bandRow="1">
                <a:tableStyleId>{5C22544A-7EE6-4342-B048-85BDC9FD1C3A}</a:tableStyleId>
              </a:tblPr>
              <a:tblGrid>
                <a:gridCol w="2712049">
                  <a:extLst>
                    <a:ext uri="{9D8B030D-6E8A-4147-A177-3AD203B41FA5}">
                      <a16:colId xmlns:a16="http://schemas.microsoft.com/office/drawing/2014/main" val="20000"/>
                    </a:ext>
                  </a:extLst>
                </a:gridCol>
                <a:gridCol w="2496045">
                  <a:extLst>
                    <a:ext uri="{9D8B030D-6E8A-4147-A177-3AD203B41FA5}">
                      <a16:colId xmlns:a16="http://schemas.microsoft.com/office/drawing/2014/main" val="20001"/>
                    </a:ext>
                  </a:extLst>
                </a:gridCol>
                <a:gridCol w="2496045">
                  <a:extLst>
                    <a:ext uri="{9D8B030D-6E8A-4147-A177-3AD203B41FA5}">
                      <a16:colId xmlns:a16="http://schemas.microsoft.com/office/drawing/2014/main" val="20002"/>
                    </a:ext>
                  </a:extLst>
                </a:gridCol>
              </a:tblGrid>
              <a:tr h="36577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Experiment</a:t>
                      </a:r>
                    </a:p>
                  </a:txBody>
                  <a:tcPr marL="91436" marR="91436" marT="45716" marB="45716"/>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Inference</a:t>
                      </a:r>
                    </a:p>
                  </a:txBody>
                  <a:tcPr marL="91436" marR="91436" marT="45716" marB="45716"/>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Problem gap</a:t>
                      </a:r>
                    </a:p>
                  </a:txBody>
                  <a:tcPr marL="91436" marR="91436" marT="45716" marB="45716"/>
                </a:tc>
                <a:extLst>
                  <a:ext uri="{0D108BD9-81ED-4DB2-BD59-A6C34878D82A}">
                    <a16:rowId xmlns:a16="http://schemas.microsoft.com/office/drawing/2014/main" val="10000"/>
                  </a:ext>
                </a:extLst>
              </a:tr>
              <a:tr h="2612372">
                <a:tc>
                  <a:txBody>
                    <a:bodyPr/>
                    <a:lstStyle/>
                    <a:p>
                      <a:pPr algn="just"/>
                      <a:r>
                        <a:rPr lang="en-US" dirty="0"/>
                        <a:t>Implementation of a smart traffic control system using fog computing devices to process traffic data at the edge.</a:t>
                      </a:r>
                      <a:endParaRPr lang="en-US" sz="1800" dirty="0"/>
                    </a:p>
                  </a:txBody>
                  <a:tcPr marL="91436" marR="91436" marT="45716" marB="45716"/>
                </a:tc>
                <a:tc>
                  <a:txBody>
                    <a:bodyPr/>
                    <a:lstStyle/>
                    <a:p>
                      <a:pPr algn="just"/>
                      <a:r>
                        <a:rPr lang="en-US" dirty="0"/>
                        <a:t>The system reduces latency and improves real-time decision-making by processing data closer to the source instead of relying on cloud systems.</a:t>
                      </a:r>
                      <a:endParaRPr lang="en-US" sz="1800" dirty="0"/>
                    </a:p>
                  </a:txBody>
                  <a:tcPr marL="91436" marR="91436" marT="45716" marB="45716"/>
                </a:tc>
                <a:tc>
                  <a:txBody>
                    <a:bodyPr/>
                    <a:lstStyle/>
                    <a:p>
                      <a:pPr algn="just"/>
                      <a:r>
                        <a:rPr lang="en-US" sz="1800" dirty="0"/>
                        <a:t>S</a:t>
                      </a:r>
                      <a:r>
                        <a:rPr lang="en-US" dirty="0"/>
                        <a:t>calability issues arise when deployed in large urban environments, and system management becomes complex with multiple fog nodes.</a:t>
                      </a:r>
                      <a:endParaRPr lang="en-US" sz="1800" dirty="0"/>
                    </a:p>
                  </a:txBody>
                  <a:tcPr marL="91436" marR="91436" marT="45716" marB="45716"/>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5185171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ltLang="en-US" sz="2800" b="1" dirty="0">
                <a:solidFill>
                  <a:srgbClr val="7030A0"/>
                </a:solidFill>
                <a:latin typeface="Arial" panose="020B0604020202020204" pitchFamily="34" charset="0"/>
                <a:cs typeface="Arial" panose="020B0604020202020204" pitchFamily="34" charset="0"/>
              </a:rPr>
              <a:t>Literature Survey - 03</a:t>
            </a:r>
          </a:p>
        </p:txBody>
      </p:sp>
      <p:sp>
        <p:nvSpPr>
          <p:cNvPr id="9219" name="Content Placeholder 2"/>
          <p:cNvSpPr>
            <a:spLocks noGrp="1"/>
          </p:cNvSpPr>
          <p:nvPr>
            <p:ph idx="1"/>
          </p:nvPr>
        </p:nvSpPr>
        <p:spPr/>
        <p:txBody>
          <a:bodyPr>
            <a:normAutofit/>
          </a:bodyPr>
          <a:lstStyle/>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a:defRPr/>
            </a:pPr>
            <a:r>
              <a:rPr lang="en-US" sz="2400" b="1" dirty="0">
                <a:solidFill>
                  <a:srgbClr val="002060"/>
                </a:solidFill>
              </a:rPr>
              <a:t>Source</a:t>
            </a:r>
            <a:r>
              <a:rPr lang="en-US" sz="2400" b="1" dirty="0">
                <a:solidFill>
                  <a:srgbClr val="000066"/>
                </a:solidFill>
              </a:rPr>
              <a:t>: </a:t>
            </a:r>
            <a:r>
              <a:rPr lang="en-US" sz="1600" dirty="0">
                <a:solidFill>
                  <a:srgbClr val="000066"/>
                </a:solidFill>
                <a:latin typeface="Arial" panose="020B0604020202020204" pitchFamily="34" charset="0"/>
                <a:cs typeface="Arial" panose="020B0604020202020204" pitchFamily="34" charset="0"/>
              </a:rPr>
              <a:t>M. Ashkanani et al., </a:t>
            </a:r>
            <a:r>
              <a:rPr lang="en-US" sz="1600" i="1" dirty="0">
                <a:solidFill>
                  <a:srgbClr val="000066"/>
                </a:solidFill>
                <a:latin typeface="Arial" panose="020B0604020202020204" pitchFamily="34" charset="0"/>
                <a:cs typeface="Arial" panose="020B0604020202020204" pitchFamily="34" charset="0"/>
              </a:rPr>
              <a:t>“Self-Adaptive Traffic Signal System with Vehicle Detection,”</a:t>
            </a:r>
            <a:r>
              <a:rPr lang="en-US" sz="1600" dirty="0">
                <a:solidFill>
                  <a:srgbClr val="000066"/>
                </a:solidFill>
                <a:latin typeface="Arial" panose="020B0604020202020204" pitchFamily="34" charset="0"/>
                <a:cs typeface="Arial" panose="020B0604020202020204" pitchFamily="34" charset="0"/>
              </a:rPr>
              <a:t> Inventions,</a:t>
            </a:r>
            <a:r>
              <a:rPr lang="en-US" sz="1600" dirty="0">
                <a:latin typeface="Arial" panose="020B0604020202020204" pitchFamily="34" charset="0"/>
                <a:cs typeface="Arial" panose="020B0604020202020204" pitchFamily="34" charset="0"/>
              </a:rPr>
              <a:t> </a:t>
            </a:r>
            <a:r>
              <a:rPr lang="en-US" sz="1600" dirty="0">
                <a:solidFill>
                  <a:srgbClr val="00B050"/>
                </a:solidFill>
                <a:latin typeface="Arial" panose="020B0604020202020204" pitchFamily="34" charset="0"/>
                <a:cs typeface="Arial" panose="020B0604020202020204" pitchFamily="34" charset="0"/>
              </a:rPr>
              <a:t>2025.</a:t>
            </a:r>
            <a:r>
              <a:rPr lang="en-US" sz="1600" b="1" dirty="0">
                <a:solidFill>
                  <a:srgbClr val="00B050"/>
                </a:solidFill>
                <a:latin typeface="Arial" panose="020B0604020202020204" pitchFamily="34" charset="0"/>
                <a:cs typeface="Arial" panose="020B0604020202020204" pitchFamily="34" charset="0"/>
              </a:rPr>
              <a:t> </a:t>
            </a:r>
            <a:endParaRPr lang="en-US" sz="1600" dirty="0">
              <a:solidFill>
                <a:srgbClr val="00B050"/>
              </a:solidFill>
              <a:latin typeface="Arial" panose="020B0604020202020204" pitchFamily="34" charset="0"/>
              <a:cs typeface="Arial" panose="020B0604020202020204" pitchFamily="34" charset="0"/>
            </a:endParaRPr>
          </a:p>
        </p:txBody>
      </p:sp>
      <p:sp>
        <p:nvSpPr>
          <p:cNvPr id="1843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0FB9661-A7A0-47A7-9DEF-DB72C08D3539}" type="slidenum">
              <a:rPr lang="en-IN" altLang="en-US" sz="1200">
                <a:solidFill>
                  <a:srgbClr val="898989"/>
                </a:solidFill>
              </a:rPr>
              <a:pPr>
                <a:spcBef>
                  <a:spcPct val="0"/>
                </a:spcBef>
                <a:buFontTx/>
                <a:buNone/>
              </a:pPr>
              <a:t>8</a:t>
            </a:fld>
            <a:endParaRPr lang="en-IN" altLang="en-US" sz="1200">
              <a:solidFill>
                <a:srgbClr val="898989"/>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3057750300"/>
              </p:ext>
            </p:extLst>
          </p:nvPr>
        </p:nvGraphicFramePr>
        <p:xfrm>
          <a:off x="539750" y="1641475"/>
          <a:ext cx="7704139" cy="2978150"/>
        </p:xfrm>
        <a:graphic>
          <a:graphicData uri="http://schemas.openxmlformats.org/drawingml/2006/table">
            <a:tbl>
              <a:tblPr firstRow="1" bandRow="1">
                <a:tableStyleId>{5C22544A-7EE6-4342-B048-85BDC9FD1C3A}</a:tableStyleId>
              </a:tblPr>
              <a:tblGrid>
                <a:gridCol w="2712049">
                  <a:extLst>
                    <a:ext uri="{9D8B030D-6E8A-4147-A177-3AD203B41FA5}">
                      <a16:colId xmlns:a16="http://schemas.microsoft.com/office/drawing/2014/main" val="20000"/>
                    </a:ext>
                  </a:extLst>
                </a:gridCol>
                <a:gridCol w="2496045">
                  <a:extLst>
                    <a:ext uri="{9D8B030D-6E8A-4147-A177-3AD203B41FA5}">
                      <a16:colId xmlns:a16="http://schemas.microsoft.com/office/drawing/2014/main" val="20001"/>
                    </a:ext>
                  </a:extLst>
                </a:gridCol>
                <a:gridCol w="2496045">
                  <a:extLst>
                    <a:ext uri="{9D8B030D-6E8A-4147-A177-3AD203B41FA5}">
                      <a16:colId xmlns:a16="http://schemas.microsoft.com/office/drawing/2014/main" val="20002"/>
                    </a:ext>
                  </a:extLst>
                </a:gridCol>
              </a:tblGrid>
              <a:tr h="36577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Experiment</a:t>
                      </a:r>
                    </a:p>
                  </a:txBody>
                  <a:tcPr marL="91436" marR="91436" marT="45716" marB="45716"/>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Inference</a:t>
                      </a:r>
                    </a:p>
                  </a:txBody>
                  <a:tcPr marL="91436" marR="91436" marT="45716" marB="45716"/>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Problem gap</a:t>
                      </a:r>
                    </a:p>
                  </a:txBody>
                  <a:tcPr marL="91436" marR="91436" marT="45716" marB="45716"/>
                </a:tc>
                <a:extLst>
                  <a:ext uri="{0D108BD9-81ED-4DB2-BD59-A6C34878D82A}">
                    <a16:rowId xmlns:a16="http://schemas.microsoft.com/office/drawing/2014/main" val="10000"/>
                  </a:ext>
                </a:extLst>
              </a:tr>
              <a:tr h="2612372">
                <a:tc>
                  <a:txBody>
                    <a:bodyPr/>
                    <a:lstStyle/>
                    <a:p>
                      <a:pPr algn="just"/>
                      <a:r>
                        <a:rPr lang="en-US" dirty="0"/>
                        <a:t>Development of a self-adaptive traffic signal system using vehicle detection techniques to dynamically adjust signal timings.</a:t>
                      </a:r>
                      <a:endParaRPr lang="en-US" sz="1800" dirty="0"/>
                    </a:p>
                  </a:txBody>
                  <a:tcPr marL="91436" marR="91436" marT="45716" marB="45716"/>
                </a:tc>
                <a:tc>
                  <a:txBody>
                    <a:bodyPr/>
                    <a:lstStyle/>
                    <a:p>
                      <a:pPr algn="just"/>
                      <a:r>
                        <a:rPr lang="en-US" dirty="0"/>
                        <a:t>The system improves traffic flow by adjusting signals based on real-time vehicle density, reducing waiting time at intersections.</a:t>
                      </a:r>
                      <a:endParaRPr lang="en-US" sz="1800" dirty="0"/>
                    </a:p>
                  </a:txBody>
                  <a:tcPr marL="91436" marR="91436" marT="45716" marB="45716"/>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High dependency on hardware such as cameras and sensors increases cost and affects performance in low-quality environments.</a:t>
                      </a:r>
                    </a:p>
                    <a:p>
                      <a:pPr algn="just"/>
                      <a:endParaRPr lang="en-US" sz="1800" dirty="0"/>
                    </a:p>
                  </a:txBody>
                  <a:tcPr marL="91436" marR="91436" marT="45716" marB="45716"/>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6340774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ltLang="en-US" sz="2800" b="1" dirty="0">
                <a:solidFill>
                  <a:srgbClr val="7030A0"/>
                </a:solidFill>
                <a:latin typeface="Arial" panose="020B0604020202020204" pitchFamily="34" charset="0"/>
                <a:cs typeface="Arial" panose="020B0604020202020204" pitchFamily="34" charset="0"/>
              </a:rPr>
              <a:t>Literature Survey - 04</a:t>
            </a:r>
          </a:p>
        </p:txBody>
      </p:sp>
      <p:sp>
        <p:nvSpPr>
          <p:cNvPr id="9219" name="Content Placeholder 2"/>
          <p:cNvSpPr>
            <a:spLocks noGrp="1"/>
          </p:cNvSpPr>
          <p:nvPr>
            <p:ph idx="1"/>
          </p:nvPr>
        </p:nvSpPr>
        <p:spPr/>
        <p:txBody>
          <a:bodyPr>
            <a:normAutofit/>
          </a:bodyPr>
          <a:lstStyle/>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a:defRPr/>
            </a:pPr>
            <a:r>
              <a:rPr lang="en-US" sz="2400" b="1" dirty="0">
                <a:solidFill>
                  <a:srgbClr val="002060"/>
                </a:solidFill>
              </a:rPr>
              <a:t>Source: </a:t>
            </a:r>
            <a:r>
              <a:rPr lang="fr-FR" sz="1700" dirty="0">
                <a:solidFill>
                  <a:srgbClr val="000066"/>
                </a:solidFill>
                <a:latin typeface="Arial" panose="020B0604020202020204" pitchFamily="34" charset="0"/>
                <a:cs typeface="Arial" panose="020B0604020202020204" pitchFamily="34" charset="0"/>
              </a:rPr>
              <a:t>D. </a:t>
            </a:r>
            <a:r>
              <a:rPr lang="fr-FR" sz="1700" dirty="0" err="1">
                <a:solidFill>
                  <a:srgbClr val="000066"/>
                </a:solidFill>
                <a:latin typeface="Arial" panose="020B0604020202020204" pitchFamily="34" charset="0"/>
                <a:cs typeface="Arial" panose="020B0604020202020204" pitchFamily="34" charset="0"/>
              </a:rPr>
              <a:t>Dede</a:t>
            </a:r>
            <a:r>
              <a:rPr lang="fr-FR" sz="1700" dirty="0">
                <a:solidFill>
                  <a:srgbClr val="000066"/>
                </a:solidFill>
                <a:latin typeface="Arial" panose="020B0604020202020204" pitchFamily="34" charset="0"/>
                <a:cs typeface="Arial" panose="020B0604020202020204" pitchFamily="34" charset="0"/>
              </a:rPr>
              <a:t> et al., </a:t>
            </a:r>
            <a:r>
              <a:rPr lang="fr-FR" sz="1700" i="1" dirty="0">
                <a:solidFill>
                  <a:srgbClr val="000066"/>
                </a:solidFill>
                <a:latin typeface="Arial" panose="020B0604020202020204" pitchFamily="34" charset="0"/>
                <a:cs typeface="Arial" panose="020B0604020202020204" pitchFamily="34" charset="0"/>
              </a:rPr>
              <a:t>“AI-</a:t>
            </a:r>
            <a:r>
              <a:rPr lang="fr-FR" sz="1700" i="1" dirty="0" err="1">
                <a:solidFill>
                  <a:srgbClr val="000066"/>
                </a:solidFill>
                <a:latin typeface="Arial" panose="020B0604020202020204" pitchFamily="34" charset="0"/>
                <a:cs typeface="Arial" panose="020B0604020202020204" pitchFamily="34" charset="0"/>
              </a:rPr>
              <a:t>Assisted</a:t>
            </a:r>
            <a:r>
              <a:rPr lang="fr-FR" sz="1700" i="1" dirty="0">
                <a:solidFill>
                  <a:srgbClr val="000066"/>
                </a:solidFill>
                <a:latin typeface="Arial" panose="020B0604020202020204" pitchFamily="34" charset="0"/>
                <a:cs typeface="Arial" panose="020B0604020202020204" pitchFamily="34" charset="0"/>
              </a:rPr>
              <a:t> Traffic Violation </a:t>
            </a:r>
            <a:r>
              <a:rPr lang="fr-FR" sz="1700" i="1" dirty="0" err="1">
                <a:solidFill>
                  <a:srgbClr val="000066"/>
                </a:solidFill>
                <a:latin typeface="Arial" panose="020B0604020202020204" pitchFamily="34" charset="0"/>
                <a:cs typeface="Arial" panose="020B0604020202020204" pitchFamily="34" charset="0"/>
              </a:rPr>
              <a:t>Detection</a:t>
            </a:r>
            <a:r>
              <a:rPr lang="fr-FR" sz="1700" i="1" dirty="0">
                <a:solidFill>
                  <a:srgbClr val="000066"/>
                </a:solidFill>
                <a:latin typeface="Arial" panose="020B0604020202020204" pitchFamily="34" charset="0"/>
                <a:cs typeface="Arial" panose="020B0604020202020204" pitchFamily="34" charset="0"/>
              </a:rPr>
              <a:t>,”</a:t>
            </a:r>
            <a:r>
              <a:rPr lang="fr-FR" sz="1700" dirty="0">
                <a:solidFill>
                  <a:srgbClr val="000066"/>
                </a:solidFill>
                <a:latin typeface="Arial" panose="020B0604020202020204" pitchFamily="34" charset="0"/>
                <a:cs typeface="Arial" panose="020B0604020202020204" pitchFamily="34" charset="0"/>
              </a:rPr>
              <a:t> </a:t>
            </a:r>
            <a:r>
              <a:rPr lang="fr-FR" sz="1700" dirty="0" err="1">
                <a:solidFill>
                  <a:srgbClr val="000066"/>
                </a:solidFill>
                <a:latin typeface="Arial" panose="020B0604020202020204" pitchFamily="34" charset="0"/>
                <a:cs typeface="Arial" panose="020B0604020202020204" pitchFamily="34" charset="0"/>
              </a:rPr>
              <a:t>arXiv</a:t>
            </a:r>
            <a:r>
              <a:rPr lang="fr-FR" sz="1700" dirty="0">
                <a:solidFill>
                  <a:srgbClr val="000066"/>
                </a:solidFill>
                <a:latin typeface="Arial" panose="020B0604020202020204" pitchFamily="34" charset="0"/>
                <a:cs typeface="Arial" panose="020B0604020202020204" pitchFamily="34" charset="0"/>
              </a:rPr>
              <a:t>, </a:t>
            </a:r>
            <a:r>
              <a:rPr lang="fr-FR" sz="1700" dirty="0">
                <a:solidFill>
                  <a:srgbClr val="00B050"/>
                </a:solidFill>
                <a:latin typeface="Arial" panose="020B0604020202020204" pitchFamily="34" charset="0"/>
                <a:cs typeface="Arial" panose="020B0604020202020204" pitchFamily="34" charset="0"/>
              </a:rPr>
              <a:t>2023.</a:t>
            </a:r>
            <a:r>
              <a:rPr lang="en-US" sz="1700" b="1" dirty="0">
                <a:solidFill>
                  <a:srgbClr val="00B050"/>
                </a:solidFill>
                <a:latin typeface="Arial" panose="020B0604020202020204" pitchFamily="34" charset="0"/>
                <a:cs typeface="Arial" panose="020B0604020202020204" pitchFamily="34" charset="0"/>
              </a:rPr>
              <a:t> </a:t>
            </a:r>
            <a:endParaRPr lang="en-US" sz="1700" dirty="0">
              <a:solidFill>
                <a:srgbClr val="00B050"/>
              </a:solidFill>
              <a:latin typeface="Arial" panose="020B0604020202020204" pitchFamily="34" charset="0"/>
              <a:cs typeface="Arial" panose="020B0604020202020204" pitchFamily="34" charset="0"/>
            </a:endParaRPr>
          </a:p>
        </p:txBody>
      </p:sp>
      <p:sp>
        <p:nvSpPr>
          <p:cNvPr id="1843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0FB9661-A7A0-47A7-9DEF-DB72C08D3539}" type="slidenum">
              <a:rPr lang="en-IN" altLang="en-US" sz="1200">
                <a:solidFill>
                  <a:srgbClr val="898989"/>
                </a:solidFill>
              </a:rPr>
              <a:pPr>
                <a:spcBef>
                  <a:spcPct val="0"/>
                </a:spcBef>
                <a:buFontTx/>
                <a:buNone/>
              </a:pPr>
              <a:t>9</a:t>
            </a:fld>
            <a:endParaRPr lang="en-IN" altLang="en-US" sz="1200">
              <a:solidFill>
                <a:srgbClr val="898989"/>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87691928"/>
              </p:ext>
            </p:extLst>
          </p:nvPr>
        </p:nvGraphicFramePr>
        <p:xfrm>
          <a:off x="539750" y="1641475"/>
          <a:ext cx="7704139" cy="2978150"/>
        </p:xfrm>
        <a:graphic>
          <a:graphicData uri="http://schemas.openxmlformats.org/drawingml/2006/table">
            <a:tbl>
              <a:tblPr firstRow="1" bandRow="1">
                <a:tableStyleId>{5C22544A-7EE6-4342-B048-85BDC9FD1C3A}</a:tableStyleId>
              </a:tblPr>
              <a:tblGrid>
                <a:gridCol w="2712049">
                  <a:extLst>
                    <a:ext uri="{9D8B030D-6E8A-4147-A177-3AD203B41FA5}">
                      <a16:colId xmlns:a16="http://schemas.microsoft.com/office/drawing/2014/main" val="20000"/>
                    </a:ext>
                  </a:extLst>
                </a:gridCol>
                <a:gridCol w="2496045">
                  <a:extLst>
                    <a:ext uri="{9D8B030D-6E8A-4147-A177-3AD203B41FA5}">
                      <a16:colId xmlns:a16="http://schemas.microsoft.com/office/drawing/2014/main" val="20001"/>
                    </a:ext>
                  </a:extLst>
                </a:gridCol>
                <a:gridCol w="2496045">
                  <a:extLst>
                    <a:ext uri="{9D8B030D-6E8A-4147-A177-3AD203B41FA5}">
                      <a16:colId xmlns:a16="http://schemas.microsoft.com/office/drawing/2014/main" val="20002"/>
                    </a:ext>
                  </a:extLst>
                </a:gridCol>
              </a:tblGrid>
              <a:tr h="36577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Experiment</a:t>
                      </a:r>
                    </a:p>
                  </a:txBody>
                  <a:tcPr marL="91436" marR="91436" marT="45716" marB="45716"/>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Inference</a:t>
                      </a:r>
                    </a:p>
                  </a:txBody>
                  <a:tcPr marL="91436" marR="91436" marT="45716" marB="45716"/>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Problem gap</a:t>
                      </a:r>
                    </a:p>
                  </a:txBody>
                  <a:tcPr marL="91436" marR="91436" marT="45716" marB="45716"/>
                </a:tc>
                <a:extLst>
                  <a:ext uri="{0D108BD9-81ED-4DB2-BD59-A6C34878D82A}">
                    <a16:rowId xmlns:a16="http://schemas.microsoft.com/office/drawing/2014/main" val="10000"/>
                  </a:ext>
                </a:extLst>
              </a:tr>
              <a:tr h="2612372">
                <a:tc>
                  <a:txBody>
                    <a:bodyPr/>
                    <a:lstStyle/>
                    <a:p>
                      <a:pPr algn="just"/>
                      <a:r>
                        <a:rPr lang="en-US" dirty="0"/>
                        <a:t>AI-assisted traffic violation detection using computer vision techniques for identifying rule violations from video data.</a:t>
                      </a:r>
                      <a:endParaRPr lang="en-US" sz="1800" dirty="0"/>
                    </a:p>
                  </a:txBody>
                  <a:tcPr marL="91436" marR="91436" marT="45716" marB="45716"/>
                </a:tc>
                <a:tc>
                  <a:txBody>
                    <a:bodyPr/>
                    <a:lstStyle/>
                    <a:p>
                      <a:pPr algn="just"/>
                      <a:r>
                        <a:rPr lang="en-US" dirty="0"/>
                        <a:t>The system achieves high accuracy in detecting violations and reduces manual monitoring through automation.</a:t>
                      </a:r>
                      <a:endParaRPr lang="en-US" sz="1800" dirty="0"/>
                    </a:p>
                  </a:txBody>
                  <a:tcPr marL="91436" marR="91436" marT="45716" marB="45716"/>
                </a:tc>
                <a:tc>
                  <a:txBody>
                    <a:bodyPr/>
                    <a:lstStyle/>
                    <a:p>
                      <a:pPr algn="just"/>
                      <a:r>
                        <a:rPr lang="en-US" dirty="0"/>
                        <a:t>Requires high computational power and high-quality video input, making it less efficient in low-resource conditions.</a:t>
                      </a:r>
                      <a:endParaRPr lang="en-US" sz="1800" dirty="0"/>
                    </a:p>
                  </a:txBody>
                  <a:tcPr marL="91436" marR="91436" marT="45716" marB="45716"/>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8657045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ltLang="en-US" sz="2800" b="1" dirty="0">
                <a:solidFill>
                  <a:srgbClr val="7030A0"/>
                </a:solidFill>
                <a:latin typeface="Arial" panose="020B0604020202020204" pitchFamily="34" charset="0"/>
                <a:cs typeface="Arial" panose="020B0604020202020204" pitchFamily="34" charset="0"/>
              </a:rPr>
              <a:t>Literature Survey - 05</a:t>
            </a:r>
          </a:p>
        </p:txBody>
      </p:sp>
      <p:sp>
        <p:nvSpPr>
          <p:cNvPr id="9219" name="Content Placeholder 2"/>
          <p:cNvSpPr>
            <a:spLocks noGrp="1"/>
          </p:cNvSpPr>
          <p:nvPr>
            <p:ph idx="1"/>
          </p:nvPr>
        </p:nvSpPr>
        <p:spPr/>
        <p:txBody>
          <a:bodyPr>
            <a:normAutofit/>
          </a:bodyPr>
          <a:lstStyle/>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a:defRPr/>
            </a:pPr>
            <a:r>
              <a:rPr lang="en-US" sz="2400" b="1" dirty="0">
                <a:solidFill>
                  <a:srgbClr val="002060"/>
                </a:solidFill>
              </a:rPr>
              <a:t>Source: </a:t>
            </a:r>
            <a:r>
              <a:rPr lang="en-US" sz="1700" dirty="0">
                <a:solidFill>
                  <a:srgbClr val="000066"/>
                </a:solidFill>
                <a:latin typeface="Arial" panose="020B0604020202020204" pitchFamily="34" charset="0"/>
                <a:cs typeface="Arial" panose="020B0604020202020204" pitchFamily="34" charset="0"/>
              </a:rPr>
              <a:t>S. Sharma et al., </a:t>
            </a:r>
            <a:r>
              <a:rPr lang="en-US" sz="1700" i="1" dirty="0">
                <a:solidFill>
                  <a:srgbClr val="000066"/>
                </a:solidFill>
                <a:latin typeface="Arial" panose="020B0604020202020204" pitchFamily="34" charset="0"/>
                <a:cs typeface="Arial" panose="020B0604020202020204" pitchFamily="34" charset="0"/>
              </a:rPr>
              <a:t>“Traffic Surveillance Using R-CNN,”</a:t>
            </a:r>
            <a:r>
              <a:rPr lang="en-US" sz="1700" dirty="0">
                <a:solidFill>
                  <a:srgbClr val="000066"/>
                </a:solidFill>
                <a:latin typeface="Arial" panose="020B0604020202020204" pitchFamily="34" charset="0"/>
                <a:cs typeface="Arial" panose="020B0604020202020204" pitchFamily="34" charset="0"/>
              </a:rPr>
              <a:t> International Journal of Computer Vision</a:t>
            </a:r>
            <a:r>
              <a:rPr lang="en-US" sz="1700" dirty="0">
                <a:latin typeface="Arial" panose="020B0604020202020204" pitchFamily="34" charset="0"/>
                <a:cs typeface="Arial" panose="020B0604020202020204" pitchFamily="34" charset="0"/>
              </a:rPr>
              <a:t>, </a:t>
            </a:r>
            <a:r>
              <a:rPr lang="en-US" sz="1700" dirty="0">
                <a:solidFill>
                  <a:srgbClr val="00B050"/>
                </a:solidFill>
                <a:latin typeface="Arial" panose="020B0604020202020204" pitchFamily="34" charset="0"/>
                <a:cs typeface="Arial" panose="020B0604020202020204" pitchFamily="34" charset="0"/>
              </a:rPr>
              <a:t>2020.</a:t>
            </a:r>
            <a:r>
              <a:rPr lang="en-US" sz="1700" b="1" dirty="0">
                <a:solidFill>
                  <a:srgbClr val="00B050"/>
                </a:solidFill>
                <a:latin typeface="Arial" panose="020B0604020202020204" pitchFamily="34" charset="0"/>
                <a:cs typeface="Arial" panose="020B0604020202020204" pitchFamily="34" charset="0"/>
              </a:rPr>
              <a:t> </a:t>
            </a:r>
            <a:endParaRPr lang="en-US" sz="1700" dirty="0">
              <a:solidFill>
                <a:srgbClr val="00B050"/>
              </a:solidFill>
              <a:latin typeface="Arial" panose="020B0604020202020204" pitchFamily="34" charset="0"/>
              <a:cs typeface="Arial" panose="020B0604020202020204" pitchFamily="34" charset="0"/>
            </a:endParaRPr>
          </a:p>
        </p:txBody>
      </p:sp>
      <p:sp>
        <p:nvSpPr>
          <p:cNvPr id="1843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0FB9661-A7A0-47A7-9DEF-DB72C08D3539}" type="slidenum">
              <a:rPr lang="en-IN" altLang="en-US" sz="1200">
                <a:solidFill>
                  <a:srgbClr val="898989"/>
                </a:solidFill>
              </a:rPr>
              <a:pPr>
                <a:spcBef>
                  <a:spcPct val="0"/>
                </a:spcBef>
                <a:buFontTx/>
                <a:buNone/>
              </a:pPr>
              <a:t>10</a:t>
            </a:fld>
            <a:endParaRPr lang="en-IN" altLang="en-US" sz="1200">
              <a:solidFill>
                <a:srgbClr val="898989"/>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3190375603"/>
              </p:ext>
            </p:extLst>
          </p:nvPr>
        </p:nvGraphicFramePr>
        <p:xfrm>
          <a:off x="539750" y="1641475"/>
          <a:ext cx="7704139" cy="2978150"/>
        </p:xfrm>
        <a:graphic>
          <a:graphicData uri="http://schemas.openxmlformats.org/drawingml/2006/table">
            <a:tbl>
              <a:tblPr firstRow="1" bandRow="1">
                <a:tableStyleId>{5C22544A-7EE6-4342-B048-85BDC9FD1C3A}</a:tableStyleId>
              </a:tblPr>
              <a:tblGrid>
                <a:gridCol w="2712049">
                  <a:extLst>
                    <a:ext uri="{9D8B030D-6E8A-4147-A177-3AD203B41FA5}">
                      <a16:colId xmlns:a16="http://schemas.microsoft.com/office/drawing/2014/main" val="20000"/>
                    </a:ext>
                  </a:extLst>
                </a:gridCol>
                <a:gridCol w="2496045">
                  <a:extLst>
                    <a:ext uri="{9D8B030D-6E8A-4147-A177-3AD203B41FA5}">
                      <a16:colId xmlns:a16="http://schemas.microsoft.com/office/drawing/2014/main" val="20001"/>
                    </a:ext>
                  </a:extLst>
                </a:gridCol>
                <a:gridCol w="2496045">
                  <a:extLst>
                    <a:ext uri="{9D8B030D-6E8A-4147-A177-3AD203B41FA5}">
                      <a16:colId xmlns:a16="http://schemas.microsoft.com/office/drawing/2014/main" val="20002"/>
                    </a:ext>
                  </a:extLst>
                </a:gridCol>
              </a:tblGrid>
              <a:tr h="36577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Experiment</a:t>
                      </a:r>
                    </a:p>
                  </a:txBody>
                  <a:tcPr marL="91436" marR="91436" marT="45716" marB="45716"/>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Inference</a:t>
                      </a:r>
                    </a:p>
                  </a:txBody>
                  <a:tcPr marL="91436" marR="91436" marT="45716" marB="45716"/>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Problem gap</a:t>
                      </a:r>
                    </a:p>
                  </a:txBody>
                  <a:tcPr marL="91436" marR="91436" marT="45716" marB="45716"/>
                </a:tc>
                <a:extLst>
                  <a:ext uri="{0D108BD9-81ED-4DB2-BD59-A6C34878D82A}">
                    <a16:rowId xmlns:a16="http://schemas.microsoft.com/office/drawing/2014/main" val="10000"/>
                  </a:ext>
                </a:extLst>
              </a:tr>
              <a:tr h="2612372">
                <a:tc>
                  <a:txBody>
                    <a:bodyPr/>
                    <a:lstStyle/>
                    <a:p>
                      <a:pPr algn="just"/>
                      <a:r>
                        <a:rPr lang="en-US" dirty="0"/>
                        <a:t>Traffic surveillance system using deep learning (R-CNN) for vehicle detection and monitoring traffic behavior.</a:t>
                      </a:r>
                      <a:endParaRPr lang="en-US" sz="1800" dirty="0"/>
                    </a:p>
                  </a:txBody>
                  <a:tcPr marL="91436" marR="91436" marT="45716" marB="45716"/>
                </a:tc>
                <a:tc>
                  <a:txBody>
                    <a:bodyPr/>
                    <a:lstStyle/>
                    <a:p>
                      <a:pPr algn="just"/>
                      <a:r>
                        <a:rPr lang="en-US" dirty="0"/>
                        <a:t>The model provides accurate vehicle detection and improves traffic monitoring efficiency through automated analysis.</a:t>
                      </a:r>
                      <a:endParaRPr lang="en-US" sz="1800" dirty="0"/>
                    </a:p>
                  </a:txBody>
                  <a:tcPr marL="91436" marR="91436" marT="45716" marB="45716"/>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The system requires large datasets and high processing power, limiting real-time performance and scalability.</a:t>
                      </a:r>
                    </a:p>
                    <a:p>
                      <a:pPr algn="just"/>
                      <a:endParaRPr lang="en-US" sz="1800" dirty="0"/>
                    </a:p>
                  </a:txBody>
                  <a:tcPr marL="91436" marR="91436" marT="45716" marB="45716"/>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6071674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sz="2800" b="1" dirty="0">
                <a:solidFill>
                  <a:srgbClr val="7030A0"/>
                </a:solidFill>
                <a:latin typeface="Arial" panose="020B0604020202020204" pitchFamily="34" charset="0"/>
                <a:cs typeface="Arial" panose="020B0604020202020204" pitchFamily="34" charset="0"/>
              </a:rPr>
              <a:t>Existing technology of the project</a:t>
            </a:r>
          </a:p>
        </p:txBody>
      </p:sp>
      <p:sp>
        <p:nvSpPr>
          <p:cNvPr id="9219" name="Content Placeholder 2"/>
          <p:cNvSpPr>
            <a:spLocks noGrp="1"/>
          </p:cNvSpPr>
          <p:nvPr>
            <p:ph idx="1"/>
          </p:nvPr>
        </p:nvSpPr>
        <p:spPr/>
        <p:txBody>
          <a:bodyPr>
            <a:normAutofit/>
          </a:bodyPr>
          <a:lstStyle/>
          <a:p>
            <a:pPr marL="0" indent="0">
              <a:buFont typeface="Arial" panose="020B0604020202020204" pitchFamily="34" charset="0"/>
              <a:buNone/>
            </a:pPr>
            <a:endParaRPr lang="en-US" sz="2400" dirty="0"/>
          </a:p>
          <a:p>
            <a:pPr marL="0" lvl="0" indent="0" eaLnBrk="0" fontAlgn="base" hangingPunct="0">
              <a:lnSpc>
                <a:spcPct val="150000"/>
              </a:lnSpc>
              <a:spcBef>
                <a:spcPct val="0"/>
              </a:spcBef>
              <a:spcAft>
                <a:spcPct val="0"/>
              </a:spcAft>
              <a:buFontTx/>
              <a:buChar char="•"/>
            </a:pPr>
            <a:r>
              <a:rPr lang="en-US" altLang="en-US" sz="1400" dirty="0">
                <a:latin typeface="Arial" panose="020B0604020202020204" pitchFamily="34" charset="0"/>
              </a:rPr>
              <a:t>Fixed-time traffic signals </a:t>
            </a:r>
          </a:p>
          <a:p>
            <a:pPr marL="0" lvl="0" indent="0" eaLnBrk="0" fontAlgn="base" hangingPunct="0">
              <a:lnSpc>
                <a:spcPct val="150000"/>
              </a:lnSpc>
              <a:spcBef>
                <a:spcPct val="0"/>
              </a:spcBef>
              <a:spcAft>
                <a:spcPct val="0"/>
              </a:spcAft>
              <a:buFontTx/>
              <a:buChar char="•"/>
            </a:pPr>
            <a:r>
              <a:rPr lang="en-US" altLang="en-US" sz="1400" dirty="0">
                <a:latin typeface="Arial" panose="020B0604020202020204" pitchFamily="34" charset="0"/>
              </a:rPr>
              <a:t>Vehicle detection using sensors and cameras</a:t>
            </a:r>
          </a:p>
          <a:p>
            <a:pPr marL="0" lvl="0" indent="0" eaLnBrk="0" fontAlgn="base" hangingPunct="0">
              <a:lnSpc>
                <a:spcPct val="150000"/>
              </a:lnSpc>
              <a:spcBef>
                <a:spcPct val="0"/>
              </a:spcBef>
              <a:spcAft>
                <a:spcPct val="0"/>
              </a:spcAft>
              <a:buFontTx/>
              <a:buChar char="•"/>
            </a:pPr>
            <a:r>
              <a:rPr lang="en-US" sz="1400" dirty="0"/>
              <a:t>Basic AI-based traffic monitoring systems</a:t>
            </a:r>
          </a:p>
          <a:p>
            <a:pPr marL="0" lvl="0" indent="0" eaLnBrk="0" fontAlgn="base" hangingPunct="0">
              <a:lnSpc>
                <a:spcPct val="150000"/>
              </a:lnSpc>
              <a:spcBef>
                <a:spcPct val="0"/>
              </a:spcBef>
              <a:spcAft>
                <a:spcPct val="0"/>
              </a:spcAft>
              <a:buFontTx/>
              <a:buChar char="•"/>
            </a:pPr>
            <a:r>
              <a:rPr lang="en-US" sz="1400" dirty="0"/>
              <a:t>Adaptive signal control systems (SCOOT, SCATS)</a:t>
            </a:r>
            <a:endParaRPr lang="en-US" altLang="en-US" sz="1400" dirty="0">
              <a:latin typeface="Arial" panose="020B0604020202020204" pitchFamily="34" charset="0"/>
            </a:endParaRPr>
          </a:p>
          <a:p>
            <a:pPr marL="0" lvl="0" indent="0" eaLnBrk="0" fontAlgn="base" hangingPunct="0">
              <a:lnSpc>
                <a:spcPct val="150000"/>
              </a:lnSpc>
              <a:spcBef>
                <a:spcPct val="0"/>
              </a:spcBef>
              <a:spcAft>
                <a:spcPct val="0"/>
              </a:spcAft>
              <a:buNone/>
            </a:pPr>
            <a:endParaRPr lang="en-US" sz="2400" dirty="0"/>
          </a:p>
          <a:p>
            <a:pPr marL="0" indent="0">
              <a:lnSpc>
                <a:spcPct val="150000"/>
              </a:lnSpc>
              <a:buNone/>
            </a:pPr>
            <a:r>
              <a:rPr lang="en-US" sz="2400" dirty="0">
                <a:solidFill>
                  <a:srgbClr val="FF0000"/>
                </a:solidFill>
              </a:rPr>
              <a:t>Source:</a:t>
            </a:r>
            <a:r>
              <a:rPr lang="en-US" sz="2400" dirty="0"/>
              <a:t> “</a:t>
            </a:r>
            <a:r>
              <a:rPr lang="en-US" sz="1500" i="1" dirty="0">
                <a:latin typeface="Arial" panose="020B0604020202020204" pitchFamily="34" charset="0"/>
                <a:cs typeface="Arial" panose="020B0604020202020204" pitchFamily="34" charset="0"/>
              </a:rPr>
              <a:t>Traffic Signal Timing Optimization Using Traditional </a:t>
            </a:r>
            <a:r>
              <a:rPr lang="en-US" sz="1500" i="1" dirty="0" err="1">
                <a:latin typeface="Arial" panose="020B0604020202020204" pitchFamily="34" charset="0"/>
                <a:cs typeface="Arial" panose="020B0604020202020204" pitchFamily="34" charset="0"/>
              </a:rPr>
              <a:t>Methods</a:t>
            </a:r>
            <a:r>
              <a:rPr lang="en-US" sz="1500" dirty="0" err="1">
                <a:latin typeface="Arial" panose="020B0604020202020204" pitchFamily="34" charset="0"/>
                <a:cs typeface="Arial" panose="020B0604020202020204" pitchFamily="34" charset="0"/>
              </a:rPr>
              <a:t>,”Smith</a:t>
            </a:r>
            <a:r>
              <a:rPr lang="en-US" sz="1500" dirty="0">
                <a:latin typeface="Arial" panose="020B0604020202020204" pitchFamily="34" charset="0"/>
                <a:cs typeface="Arial" panose="020B0604020202020204" pitchFamily="34" charset="0"/>
              </a:rPr>
              <a:t>, B. L., Scherer, W. T., and Hauser, T. A.,, </a:t>
            </a:r>
            <a:r>
              <a:rPr lang="en-US" sz="1500" i="1" dirty="0">
                <a:latin typeface="Arial" panose="020B0604020202020204" pitchFamily="34" charset="0"/>
                <a:cs typeface="Arial" panose="020B0604020202020204" pitchFamily="34" charset="0"/>
              </a:rPr>
              <a:t>Transportation Research Record</a:t>
            </a:r>
            <a:r>
              <a:rPr lang="en-US" sz="1500" dirty="0">
                <a:latin typeface="Arial" panose="020B0604020202020204" pitchFamily="34" charset="0"/>
                <a:cs typeface="Arial" panose="020B0604020202020204" pitchFamily="34" charset="0"/>
              </a:rPr>
              <a:t>, vol. 1727, no. 1, pp. 9–16, 2021. </a:t>
            </a:r>
            <a:r>
              <a:rPr lang="en-US" sz="1500" i="1" dirty="0">
                <a:latin typeface="Arial" panose="020B0604020202020204" pitchFamily="34" charset="0"/>
                <a:cs typeface="Arial" panose="020B0604020202020204" pitchFamily="34" charset="0"/>
              </a:rPr>
              <a:t>(Scopus Indexed)</a:t>
            </a:r>
            <a:endParaRPr lang="en-US" sz="1500" dirty="0">
              <a:latin typeface="Arial" panose="020B0604020202020204" pitchFamily="34" charset="0"/>
              <a:cs typeface="Arial" panose="020B0604020202020204" pitchFamily="34" charset="0"/>
            </a:endParaRPr>
          </a:p>
          <a:p>
            <a:pPr marL="0" indent="0">
              <a:buNone/>
            </a:pPr>
            <a:endParaRPr lang="en-US" sz="2400" dirty="0"/>
          </a:p>
        </p:txBody>
      </p:sp>
      <p:sp>
        <p:nvSpPr>
          <p:cNvPr id="922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E70BF35-1420-42AA-97E0-CDD574E5E82B}" type="slidenum">
              <a:rPr lang="en-IN" sz="1200" smtClean="0">
                <a:solidFill>
                  <a:srgbClr val="898989"/>
                </a:solidFill>
              </a:rPr>
              <a:pPr>
                <a:spcBef>
                  <a:spcPct val="0"/>
                </a:spcBef>
                <a:buFontTx/>
                <a:buNone/>
              </a:pPr>
              <a:t>11</a:t>
            </a:fld>
            <a:endParaRPr lang="en-IN" sz="1200">
              <a:solidFill>
                <a:srgbClr val="898989"/>
              </a:solidFill>
            </a:endParaRPr>
          </a:p>
        </p:txBody>
      </p:sp>
      <p:sp>
        <p:nvSpPr>
          <p:cNvPr id="4" name="Rectangle 3">
            <a:extLst>
              <a:ext uri="{FF2B5EF4-FFF2-40B4-BE49-F238E27FC236}">
                <a16:creationId xmlns:a16="http://schemas.microsoft.com/office/drawing/2014/main" id="{16062B6E-A2F8-4269-E94E-7E6C331E4231}"/>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891724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sz="2800" b="1" dirty="0">
                <a:solidFill>
                  <a:srgbClr val="7030A0"/>
                </a:solidFill>
                <a:latin typeface="Arial" panose="020B0604020202020204" pitchFamily="34" charset="0"/>
                <a:cs typeface="Arial" panose="020B0604020202020204" pitchFamily="34" charset="0"/>
              </a:rPr>
              <a:t>Existing technology of the project</a:t>
            </a:r>
          </a:p>
        </p:txBody>
      </p:sp>
      <p:sp>
        <p:nvSpPr>
          <p:cNvPr id="9219" name="Content Placeholder 2"/>
          <p:cNvSpPr>
            <a:spLocks noGrp="1"/>
          </p:cNvSpPr>
          <p:nvPr>
            <p:ph idx="1"/>
          </p:nvPr>
        </p:nvSpPr>
        <p:spPr/>
        <p:txBody>
          <a:bodyPr/>
          <a:lstStyle/>
          <a:p>
            <a:pPr marL="0" indent="0">
              <a:buFont typeface="Arial" panose="020B0604020202020204" pitchFamily="34" charset="0"/>
              <a:buNone/>
            </a:pPr>
            <a:r>
              <a:rPr lang="en-US" sz="2400" b="1" dirty="0">
                <a:solidFill>
                  <a:srgbClr val="FF0000"/>
                </a:solidFill>
                <a:latin typeface="Times New Roman" panose="02020603050405020304" pitchFamily="18" charset="0"/>
                <a:cs typeface="Times New Roman" panose="02020603050405020304" pitchFamily="18" charset="0"/>
              </a:rPr>
              <a:t>Photographs</a:t>
            </a:r>
          </a:p>
        </p:txBody>
      </p:sp>
      <p:sp>
        <p:nvSpPr>
          <p:cNvPr id="922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E70BF35-1420-42AA-97E0-CDD574E5E82B}" type="slidenum">
              <a:rPr lang="en-IN" sz="1200" smtClean="0">
                <a:solidFill>
                  <a:srgbClr val="898989"/>
                </a:solidFill>
              </a:rPr>
              <a:pPr>
                <a:spcBef>
                  <a:spcPct val="0"/>
                </a:spcBef>
                <a:buFontTx/>
                <a:buNone/>
              </a:pPr>
              <a:t>12</a:t>
            </a:fld>
            <a:endParaRPr lang="en-IN" sz="1200">
              <a:solidFill>
                <a:srgbClr val="898989"/>
              </a:solidFill>
            </a:endParaRPr>
          </a:p>
        </p:txBody>
      </p:sp>
      <p:pic>
        <p:nvPicPr>
          <p:cNvPr id="2050" name="Picture 2" descr="Smart Traffic Management">
            <a:extLst>
              <a:ext uri="{FF2B5EF4-FFF2-40B4-BE49-F238E27FC236}">
                <a16:creationId xmlns:a16="http://schemas.microsoft.com/office/drawing/2014/main" id="{9DB7E4F5-9A2B-5EFA-3298-4AFBD5B72A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2863" y="2334419"/>
            <a:ext cx="5684517" cy="3476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5066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pPr eaLnBrk="1" hangingPunct="1"/>
            <a:r>
              <a:rPr lang="en-US" sz="2800" b="1" dirty="0">
                <a:solidFill>
                  <a:srgbClr val="7030A0"/>
                </a:solidFill>
                <a:latin typeface="Arial" panose="020B0604020202020204" pitchFamily="34" charset="0"/>
                <a:cs typeface="Arial" panose="020B0604020202020204" pitchFamily="34" charset="0"/>
              </a:rPr>
              <a:t>Methodology adopted</a:t>
            </a:r>
            <a:endParaRPr lang="en-IN" sz="2800" b="1" dirty="0">
              <a:solidFill>
                <a:srgbClr val="7030A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13</a:t>
            </a:fld>
            <a:endParaRPr lang="en-IN" sz="1200">
              <a:solidFill>
                <a:srgbClr val="898989"/>
              </a:solidFill>
            </a:endParaRPr>
          </a:p>
        </p:txBody>
      </p:sp>
      <p:sp>
        <p:nvSpPr>
          <p:cNvPr id="2" name="Rectangle 1"/>
          <p:cNvSpPr/>
          <p:nvPr/>
        </p:nvSpPr>
        <p:spPr>
          <a:xfrm>
            <a:off x="251520" y="1512764"/>
            <a:ext cx="1697901" cy="461665"/>
          </a:xfrm>
          <a:prstGeom prst="rect">
            <a:avLst/>
          </a:prstGeom>
        </p:spPr>
        <p:txBody>
          <a:bodyPr wrap="none">
            <a:spAutoFit/>
          </a:bodyPr>
          <a:lstStyle/>
          <a:p>
            <a:r>
              <a:rPr lang="en-US" sz="2400" b="1" dirty="0">
                <a:solidFill>
                  <a:srgbClr val="FF0000"/>
                </a:solidFill>
                <a:latin typeface="Times New Roman" panose="02020603050405020304" pitchFamily="18" charset="0"/>
                <a:cs typeface="Times New Roman" panose="02020603050405020304" pitchFamily="18" charset="0"/>
              </a:rPr>
              <a:t>Flow Chart</a:t>
            </a:r>
          </a:p>
        </p:txBody>
      </p:sp>
      <p:pic>
        <p:nvPicPr>
          <p:cNvPr id="5" name="Picture 4">
            <a:extLst>
              <a:ext uri="{FF2B5EF4-FFF2-40B4-BE49-F238E27FC236}">
                <a16:creationId xmlns:a16="http://schemas.microsoft.com/office/drawing/2014/main" id="{02BFCCF3-6AB6-FDBD-6A07-BB5107108448}"/>
              </a:ext>
            </a:extLst>
          </p:cNvPr>
          <p:cNvPicPr>
            <a:picLocks noChangeAspect="1"/>
          </p:cNvPicPr>
          <p:nvPr/>
        </p:nvPicPr>
        <p:blipFill>
          <a:blip r:embed="rId2"/>
          <a:stretch>
            <a:fillRect/>
          </a:stretch>
        </p:blipFill>
        <p:spPr>
          <a:xfrm>
            <a:off x="2490536" y="1820069"/>
            <a:ext cx="4884821" cy="4536281"/>
          </a:xfrm>
          <a:prstGeom prst="rect">
            <a:avLst/>
          </a:prstGeom>
        </p:spPr>
      </p:pic>
    </p:spTree>
    <p:extLst>
      <p:ext uri="{BB962C8B-B14F-4D97-AF65-F5344CB8AC3E}">
        <p14:creationId xmlns:p14="http://schemas.microsoft.com/office/powerpoint/2010/main" val="2380853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r>
              <a:rPr lang="en-US" sz="2800" b="1" dirty="0">
                <a:solidFill>
                  <a:srgbClr val="7030A0"/>
                </a:solidFill>
                <a:latin typeface="Arial" panose="020B0604020202020204" pitchFamily="34" charset="0"/>
                <a:cs typeface="Arial" panose="020B0604020202020204" pitchFamily="34" charset="0"/>
              </a:rPr>
              <a:t>Technical feasibility</a:t>
            </a:r>
            <a:endParaRPr lang="en-IN" sz="2800" b="1" dirty="0">
              <a:solidFill>
                <a:srgbClr val="7030A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14</a:t>
            </a:fld>
            <a:endParaRPr lang="en-IN" sz="1200">
              <a:solidFill>
                <a:srgbClr val="898989"/>
              </a:solidFill>
            </a:endParaRPr>
          </a:p>
        </p:txBody>
      </p:sp>
      <p:sp>
        <p:nvSpPr>
          <p:cNvPr id="2" name="Content Placeholder 2">
            <a:extLst>
              <a:ext uri="{FF2B5EF4-FFF2-40B4-BE49-F238E27FC236}">
                <a16:creationId xmlns:a16="http://schemas.microsoft.com/office/drawing/2014/main" id="{6AA157DB-050C-3190-1CA5-5BAA27CED749}"/>
              </a:ext>
            </a:extLst>
          </p:cNvPr>
          <p:cNvSpPr txBox="1">
            <a:spLocks/>
          </p:cNvSpPr>
          <p:nvPr/>
        </p:nvSpPr>
        <p:spPr>
          <a:xfrm>
            <a:off x="234950" y="1215189"/>
            <a:ext cx="8280400" cy="49617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400" dirty="0"/>
          </a:p>
          <a:p>
            <a:pPr marL="457200" indent="-457200" eaLnBrk="0" fontAlgn="base" hangingPunct="0">
              <a:lnSpc>
                <a:spcPct val="150000"/>
              </a:lnSpc>
              <a:spcBef>
                <a:spcPct val="0"/>
              </a:spcBef>
              <a:spcAft>
                <a:spcPct val="0"/>
              </a:spcAft>
              <a:buAutoNum type="arabicPeriod"/>
            </a:pPr>
            <a:r>
              <a:rPr lang="en-IN" sz="1400" b="1" dirty="0">
                <a:latin typeface="Arial" panose="020B0604020202020204" pitchFamily="34" charset="0"/>
                <a:cs typeface="Arial" panose="020B0604020202020204" pitchFamily="34" charset="0"/>
              </a:rPr>
              <a:t>Software</a:t>
            </a:r>
            <a:r>
              <a:rPr lang="en-IN" sz="1400" dirty="0">
                <a:latin typeface="Arial" panose="020B0604020202020204" pitchFamily="34" charset="0"/>
                <a:cs typeface="Arial" panose="020B0604020202020204" pitchFamily="34" charset="0"/>
              </a:rPr>
              <a:t> : Python-based tools and frameworks - </a:t>
            </a:r>
            <a:r>
              <a:rPr lang="en-IN" sz="1400" dirty="0"/>
              <a:t>NumPy, Pandas (data processing), Scikit-learn (AI prediction) , </a:t>
            </a:r>
            <a:r>
              <a:rPr lang="en-IN" sz="1400" dirty="0" err="1"/>
              <a:t>NetworkX</a:t>
            </a:r>
            <a:r>
              <a:rPr lang="en-IN" sz="1400" dirty="0"/>
              <a:t> </a:t>
            </a:r>
          </a:p>
          <a:p>
            <a:pPr marL="457200" indent="-457200" eaLnBrk="0" fontAlgn="base" hangingPunct="0">
              <a:lnSpc>
                <a:spcPct val="150000"/>
              </a:lnSpc>
              <a:spcBef>
                <a:spcPct val="0"/>
              </a:spcBef>
              <a:spcAft>
                <a:spcPct val="0"/>
              </a:spcAft>
              <a:buAutoNum type="arabicPeriod"/>
            </a:pPr>
            <a:r>
              <a:rPr lang="en-IN" sz="1400" b="1" dirty="0"/>
              <a:t>Hardware Feasibility </a:t>
            </a:r>
            <a:r>
              <a:rPr lang="en-IN" sz="1400" dirty="0"/>
              <a:t>- </a:t>
            </a:r>
            <a:r>
              <a:rPr lang="en-US" sz="1400" dirty="0"/>
              <a:t>Basic sensors / existing traffic data sources and can be integrated with </a:t>
            </a:r>
            <a:r>
              <a:rPr lang="en-US" sz="1400" b="1" dirty="0"/>
              <a:t>existing smart city infrastructure</a:t>
            </a:r>
          </a:p>
          <a:p>
            <a:pPr marL="457200" indent="-457200" eaLnBrk="0" fontAlgn="base" hangingPunct="0">
              <a:lnSpc>
                <a:spcPct val="150000"/>
              </a:lnSpc>
              <a:spcBef>
                <a:spcPct val="0"/>
              </a:spcBef>
              <a:spcAft>
                <a:spcPct val="0"/>
              </a:spcAft>
              <a:buAutoNum type="arabicPeriod"/>
            </a:pPr>
            <a:r>
              <a:rPr lang="en-IN" sz="1400" b="1" dirty="0"/>
              <a:t>Algorithm Feasibility </a:t>
            </a:r>
            <a:r>
              <a:rPr lang="en-IN" sz="1400" dirty="0"/>
              <a:t>- QUBO optimization , Random Forest </a:t>
            </a:r>
          </a:p>
          <a:p>
            <a:pPr marL="457200" indent="-457200" eaLnBrk="0" fontAlgn="base" hangingPunct="0">
              <a:lnSpc>
                <a:spcPct val="150000"/>
              </a:lnSpc>
              <a:spcBef>
                <a:spcPct val="0"/>
              </a:spcBef>
              <a:spcAft>
                <a:spcPct val="0"/>
              </a:spcAft>
              <a:buAutoNum type="arabicPeriod"/>
            </a:pPr>
            <a:r>
              <a:rPr lang="en-IN" sz="1400" b="1" dirty="0"/>
              <a:t>Integration Feasibility </a:t>
            </a:r>
            <a:r>
              <a:rPr lang="en-IN" sz="1400" dirty="0"/>
              <a:t>- Traffic cameras, Sensors, GPS data , Smart city platforms</a:t>
            </a:r>
          </a:p>
          <a:p>
            <a:pPr marL="457200" indent="-457200" eaLnBrk="0" fontAlgn="base" hangingPunct="0">
              <a:lnSpc>
                <a:spcPct val="150000"/>
              </a:lnSpc>
              <a:spcBef>
                <a:spcPct val="0"/>
              </a:spcBef>
              <a:spcAft>
                <a:spcPct val="0"/>
              </a:spcAft>
              <a:buAutoNum type="arabicPeriod"/>
            </a:pPr>
            <a:r>
              <a:rPr lang="en-IN" sz="1400" b="1" dirty="0"/>
              <a:t>Scalability </a:t>
            </a:r>
            <a:r>
              <a:rPr lang="en-IN" sz="1400" dirty="0"/>
              <a:t>– System can be scaled from a Single junction to the Entire City </a:t>
            </a:r>
            <a:endParaRPr lang="en-IN" sz="1400" dirty="0">
              <a:latin typeface="Arial" panose="020B0604020202020204" pitchFamily="34" charset="0"/>
              <a:cs typeface="Arial" panose="020B0604020202020204" pitchFamily="34" charset="0"/>
            </a:endParaRPr>
          </a:p>
          <a:p>
            <a:pPr marL="457200" indent="-457200" eaLnBrk="0" fontAlgn="base" hangingPunct="0">
              <a:lnSpc>
                <a:spcPct val="150000"/>
              </a:lnSpc>
              <a:spcBef>
                <a:spcPct val="0"/>
              </a:spcBef>
              <a:spcAft>
                <a:spcPct val="0"/>
              </a:spcAft>
              <a:buAutoNum type="arabicPeriod"/>
            </a:pPr>
            <a:endParaRPr lang="en-IN" sz="1400" dirty="0">
              <a:latin typeface="Arial" panose="020B0604020202020204" pitchFamily="34" charset="0"/>
              <a:cs typeface="Arial" panose="020B0604020202020204" pitchFamily="34" charset="0"/>
            </a:endParaRPr>
          </a:p>
          <a:p>
            <a:pPr marL="457200" indent="-457200" eaLnBrk="0" fontAlgn="base" hangingPunct="0">
              <a:lnSpc>
                <a:spcPct val="150000"/>
              </a:lnSpc>
              <a:spcBef>
                <a:spcPct val="0"/>
              </a:spcBef>
              <a:spcAft>
                <a:spcPct val="0"/>
              </a:spcAft>
              <a:buAutoNum type="arabicPeriod"/>
            </a:pPr>
            <a:endParaRPr lang="en-IN" sz="2400" dirty="0"/>
          </a:p>
          <a:p>
            <a:pPr marL="457200" indent="-457200" eaLnBrk="0" fontAlgn="base" hangingPunct="0">
              <a:lnSpc>
                <a:spcPct val="150000"/>
              </a:lnSpc>
              <a:spcBef>
                <a:spcPct val="0"/>
              </a:spcBef>
              <a:spcAft>
                <a:spcPct val="0"/>
              </a:spcAft>
              <a:buAutoNum type="arabicPeriod"/>
            </a:pPr>
            <a:endParaRPr lang="en-US" sz="2400" dirty="0"/>
          </a:p>
          <a:p>
            <a:pPr marL="0" indent="0">
              <a:lnSpc>
                <a:spcPct val="150000"/>
              </a:lnSpc>
              <a:buNone/>
            </a:pPr>
            <a:endParaRPr lang="en-US" sz="2400" dirty="0"/>
          </a:p>
        </p:txBody>
      </p:sp>
    </p:spTree>
    <p:extLst>
      <p:ext uri="{BB962C8B-B14F-4D97-AF65-F5344CB8AC3E}">
        <p14:creationId xmlns:p14="http://schemas.microsoft.com/office/powerpoint/2010/main" val="9620136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r>
              <a:rPr lang="en-US" sz="2800" b="1" dirty="0">
                <a:solidFill>
                  <a:srgbClr val="7030A0"/>
                </a:solidFill>
                <a:latin typeface="Arial" panose="020B0604020202020204" pitchFamily="34" charset="0"/>
                <a:cs typeface="Arial" panose="020B0604020202020204" pitchFamily="34" charset="0"/>
              </a:rPr>
              <a:t>Design &amp; Experimentation</a:t>
            </a: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15</a:t>
            </a:fld>
            <a:endParaRPr lang="en-IN" sz="1200">
              <a:solidFill>
                <a:srgbClr val="898989"/>
              </a:solidFill>
            </a:endParaRPr>
          </a:p>
        </p:txBody>
      </p:sp>
      <p:pic>
        <p:nvPicPr>
          <p:cNvPr id="4" name="Picture 3">
            <a:extLst>
              <a:ext uri="{FF2B5EF4-FFF2-40B4-BE49-F238E27FC236}">
                <a16:creationId xmlns:a16="http://schemas.microsoft.com/office/drawing/2014/main" id="{C24EB1D1-986B-E8AB-2451-5570413B7272}"/>
              </a:ext>
            </a:extLst>
          </p:cNvPr>
          <p:cNvPicPr>
            <a:picLocks noChangeAspect="1"/>
          </p:cNvPicPr>
          <p:nvPr/>
        </p:nvPicPr>
        <p:blipFill>
          <a:blip r:embed="rId3"/>
          <a:stretch>
            <a:fillRect/>
          </a:stretch>
        </p:blipFill>
        <p:spPr>
          <a:xfrm>
            <a:off x="338472" y="2605970"/>
            <a:ext cx="8394031" cy="3805059"/>
          </a:xfrm>
          <a:prstGeom prst="rect">
            <a:avLst/>
          </a:prstGeom>
        </p:spPr>
      </p:pic>
      <p:pic>
        <p:nvPicPr>
          <p:cNvPr id="6" name="Picture 5">
            <a:extLst>
              <a:ext uri="{FF2B5EF4-FFF2-40B4-BE49-F238E27FC236}">
                <a16:creationId xmlns:a16="http://schemas.microsoft.com/office/drawing/2014/main" id="{CC641039-FB25-B939-5C93-334E4424C547}"/>
              </a:ext>
            </a:extLst>
          </p:cNvPr>
          <p:cNvPicPr>
            <a:picLocks noChangeAspect="1"/>
          </p:cNvPicPr>
          <p:nvPr/>
        </p:nvPicPr>
        <p:blipFill>
          <a:blip r:embed="rId4"/>
          <a:stretch>
            <a:fillRect/>
          </a:stretch>
        </p:blipFill>
        <p:spPr>
          <a:xfrm>
            <a:off x="667797" y="1670013"/>
            <a:ext cx="3648584" cy="600159"/>
          </a:xfrm>
          <a:prstGeom prst="rect">
            <a:avLst/>
          </a:prstGeom>
        </p:spPr>
      </p:pic>
      <p:pic>
        <p:nvPicPr>
          <p:cNvPr id="8" name="Picture 7">
            <a:extLst>
              <a:ext uri="{FF2B5EF4-FFF2-40B4-BE49-F238E27FC236}">
                <a16:creationId xmlns:a16="http://schemas.microsoft.com/office/drawing/2014/main" id="{13F680EF-9975-0785-D782-7566822ABAEB}"/>
              </a:ext>
            </a:extLst>
          </p:cNvPr>
          <p:cNvPicPr>
            <a:picLocks noChangeAspect="1"/>
          </p:cNvPicPr>
          <p:nvPr/>
        </p:nvPicPr>
        <p:blipFill>
          <a:blip r:embed="rId5"/>
          <a:stretch>
            <a:fillRect/>
          </a:stretch>
        </p:blipFill>
        <p:spPr>
          <a:xfrm>
            <a:off x="4373197" y="1420729"/>
            <a:ext cx="4086795" cy="1038370"/>
          </a:xfrm>
          <a:prstGeom prst="rect">
            <a:avLst/>
          </a:prstGeom>
        </p:spPr>
      </p:pic>
    </p:spTree>
    <p:extLst>
      <p:ext uri="{BB962C8B-B14F-4D97-AF65-F5344CB8AC3E}">
        <p14:creationId xmlns:p14="http://schemas.microsoft.com/office/powerpoint/2010/main" val="29152005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r>
              <a:rPr lang="en-US" sz="2800" b="1" dirty="0">
                <a:solidFill>
                  <a:srgbClr val="7030A0"/>
                </a:solidFill>
                <a:latin typeface="Arial" panose="020B0604020202020204" pitchFamily="34" charset="0"/>
                <a:cs typeface="Arial" panose="020B0604020202020204" pitchFamily="34" charset="0"/>
              </a:rPr>
              <a:t>Design &amp; Experimentation</a:t>
            </a: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16</a:t>
            </a:fld>
            <a:endParaRPr lang="en-IN" sz="1200">
              <a:solidFill>
                <a:srgbClr val="898989"/>
              </a:solidFill>
            </a:endParaRPr>
          </a:p>
        </p:txBody>
      </p:sp>
      <p:pic>
        <p:nvPicPr>
          <p:cNvPr id="4" name="Picture 3">
            <a:extLst>
              <a:ext uri="{FF2B5EF4-FFF2-40B4-BE49-F238E27FC236}">
                <a16:creationId xmlns:a16="http://schemas.microsoft.com/office/drawing/2014/main" id="{D126BE76-5F2D-AACB-F797-62CC0FA7BA92}"/>
              </a:ext>
            </a:extLst>
          </p:cNvPr>
          <p:cNvPicPr>
            <a:picLocks noChangeAspect="1"/>
          </p:cNvPicPr>
          <p:nvPr/>
        </p:nvPicPr>
        <p:blipFill>
          <a:blip r:embed="rId2"/>
          <a:stretch>
            <a:fillRect/>
          </a:stretch>
        </p:blipFill>
        <p:spPr>
          <a:xfrm>
            <a:off x="581026" y="1607836"/>
            <a:ext cx="8105774" cy="4099528"/>
          </a:xfrm>
          <a:prstGeom prst="rect">
            <a:avLst/>
          </a:prstGeom>
        </p:spPr>
      </p:pic>
    </p:spTree>
    <p:extLst>
      <p:ext uri="{BB962C8B-B14F-4D97-AF65-F5344CB8AC3E}">
        <p14:creationId xmlns:p14="http://schemas.microsoft.com/office/powerpoint/2010/main" val="26326639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r>
              <a:rPr lang="en-US" sz="2800" b="1" dirty="0">
                <a:solidFill>
                  <a:srgbClr val="7030A0"/>
                </a:solidFill>
                <a:latin typeface="Arial" panose="020B0604020202020204" pitchFamily="34" charset="0"/>
                <a:cs typeface="Arial" panose="020B0604020202020204" pitchFamily="34" charset="0"/>
              </a:rPr>
              <a:t>Results</a:t>
            </a: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17</a:t>
            </a:fld>
            <a:endParaRPr lang="en-IN" sz="1200">
              <a:solidFill>
                <a:srgbClr val="898989"/>
              </a:solidFill>
            </a:endParaRPr>
          </a:p>
        </p:txBody>
      </p:sp>
      <p:pic>
        <p:nvPicPr>
          <p:cNvPr id="4" name="Picture 3">
            <a:extLst>
              <a:ext uri="{FF2B5EF4-FFF2-40B4-BE49-F238E27FC236}">
                <a16:creationId xmlns:a16="http://schemas.microsoft.com/office/drawing/2014/main" id="{30E9CC30-AD9B-25F3-CEFC-10180F7E9148}"/>
              </a:ext>
            </a:extLst>
          </p:cNvPr>
          <p:cNvPicPr>
            <a:picLocks noChangeAspect="1"/>
          </p:cNvPicPr>
          <p:nvPr/>
        </p:nvPicPr>
        <p:blipFill>
          <a:blip r:embed="rId2"/>
          <a:stretch>
            <a:fillRect/>
          </a:stretch>
        </p:blipFill>
        <p:spPr>
          <a:xfrm>
            <a:off x="642938" y="1668339"/>
            <a:ext cx="7911515" cy="3521321"/>
          </a:xfrm>
          <a:prstGeom prst="rect">
            <a:avLst/>
          </a:prstGeom>
        </p:spPr>
      </p:pic>
    </p:spTree>
    <p:extLst>
      <p:ext uri="{BB962C8B-B14F-4D97-AF65-F5344CB8AC3E}">
        <p14:creationId xmlns:p14="http://schemas.microsoft.com/office/powerpoint/2010/main" val="506490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r>
              <a:rPr lang="en-US" sz="2800" b="1" dirty="0">
                <a:solidFill>
                  <a:srgbClr val="7030A0"/>
                </a:solidFill>
                <a:latin typeface="Arial" panose="020B0604020202020204" pitchFamily="34" charset="0"/>
                <a:cs typeface="Arial" panose="020B0604020202020204" pitchFamily="34" charset="0"/>
              </a:rPr>
              <a:t>Results</a:t>
            </a: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18</a:t>
            </a:fld>
            <a:endParaRPr lang="en-IN" sz="1200">
              <a:solidFill>
                <a:srgbClr val="898989"/>
              </a:solidFill>
            </a:endParaRPr>
          </a:p>
        </p:txBody>
      </p:sp>
      <p:pic>
        <p:nvPicPr>
          <p:cNvPr id="4" name="Picture 3">
            <a:extLst>
              <a:ext uri="{FF2B5EF4-FFF2-40B4-BE49-F238E27FC236}">
                <a16:creationId xmlns:a16="http://schemas.microsoft.com/office/drawing/2014/main" id="{EE140514-24A4-9DF9-588C-0A6A17906FBA}"/>
              </a:ext>
            </a:extLst>
          </p:cNvPr>
          <p:cNvPicPr>
            <a:picLocks noChangeAspect="1"/>
          </p:cNvPicPr>
          <p:nvPr/>
        </p:nvPicPr>
        <p:blipFill>
          <a:blip r:embed="rId2"/>
          <a:stretch>
            <a:fillRect/>
          </a:stretch>
        </p:blipFill>
        <p:spPr>
          <a:xfrm>
            <a:off x="1797426" y="1175517"/>
            <a:ext cx="5476123" cy="3231618"/>
          </a:xfrm>
          <a:prstGeom prst="rect">
            <a:avLst/>
          </a:prstGeom>
        </p:spPr>
      </p:pic>
      <p:pic>
        <p:nvPicPr>
          <p:cNvPr id="6" name="Picture 5">
            <a:extLst>
              <a:ext uri="{FF2B5EF4-FFF2-40B4-BE49-F238E27FC236}">
                <a16:creationId xmlns:a16="http://schemas.microsoft.com/office/drawing/2014/main" id="{95A07756-2B5E-B528-E4F9-B0E46E135A44}"/>
              </a:ext>
            </a:extLst>
          </p:cNvPr>
          <p:cNvPicPr>
            <a:picLocks noChangeAspect="1"/>
          </p:cNvPicPr>
          <p:nvPr/>
        </p:nvPicPr>
        <p:blipFill>
          <a:blip r:embed="rId3"/>
          <a:stretch>
            <a:fillRect/>
          </a:stretch>
        </p:blipFill>
        <p:spPr>
          <a:xfrm>
            <a:off x="282283" y="4579938"/>
            <a:ext cx="8579434" cy="1876535"/>
          </a:xfrm>
          <a:prstGeom prst="rect">
            <a:avLst/>
          </a:prstGeom>
        </p:spPr>
      </p:pic>
    </p:spTree>
    <p:extLst>
      <p:ext uri="{BB962C8B-B14F-4D97-AF65-F5344CB8AC3E}">
        <p14:creationId xmlns:p14="http://schemas.microsoft.com/office/powerpoint/2010/main" val="14728835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r>
              <a:rPr lang="en-US" sz="2800" b="1" dirty="0">
                <a:solidFill>
                  <a:srgbClr val="7030A0"/>
                </a:solidFill>
                <a:latin typeface="Arial" panose="020B0604020202020204" pitchFamily="34" charset="0"/>
                <a:cs typeface="Arial" panose="020B0604020202020204" pitchFamily="34" charset="0"/>
              </a:rPr>
              <a:t>Results</a:t>
            </a: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19</a:t>
            </a:fld>
            <a:endParaRPr lang="en-IN" sz="1200">
              <a:solidFill>
                <a:srgbClr val="898989"/>
              </a:solidFill>
            </a:endParaRPr>
          </a:p>
        </p:txBody>
      </p:sp>
      <p:pic>
        <p:nvPicPr>
          <p:cNvPr id="4" name="Picture 3">
            <a:extLst>
              <a:ext uri="{FF2B5EF4-FFF2-40B4-BE49-F238E27FC236}">
                <a16:creationId xmlns:a16="http://schemas.microsoft.com/office/drawing/2014/main" id="{DB0317C0-338C-251B-2AAD-5E8A5F831E1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1443" y="1165032"/>
            <a:ext cx="4130338" cy="2747241"/>
          </a:xfrm>
          <a:prstGeom prst="rect">
            <a:avLst/>
          </a:prstGeom>
        </p:spPr>
      </p:pic>
      <p:pic>
        <p:nvPicPr>
          <p:cNvPr id="6" name="Picture 5">
            <a:extLst>
              <a:ext uri="{FF2B5EF4-FFF2-40B4-BE49-F238E27FC236}">
                <a16:creationId xmlns:a16="http://schemas.microsoft.com/office/drawing/2014/main" id="{A9C4C779-A3CA-9B1D-E3CD-78829737C80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21781" y="1165032"/>
            <a:ext cx="4430776" cy="2747241"/>
          </a:xfrm>
          <a:prstGeom prst="rect">
            <a:avLst/>
          </a:prstGeom>
        </p:spPr>
      </p:pic>
      <p:pic>
        <p:nvPicPr>
          <p:cNvPr id="8" name="Picture 7">
            <a:extLst>
              <a:ext uri="{FF2B5EF4-FFF2-40B4-BE49-F238E27FC236}">
                <a16:creationId xmlns:a16="http://schemas.microsoft.com/office/drawing/2014/main" id="{6F8AEE3D-BCB0-37BF-6F7E-AB48EB43011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84783" y="3983711"/>
            <a:ext cx="4374434" cy="2686194"/>
          </a:xfrm>
          <a:prstGeom prst="rect">
            <a:avLst/>
          </a:prstGeom>
        </p:spPr>
      </p:pic>
    </p:spTree>
    <p:extLst>
      <p:ext uri="{BB962C8B-B14F-4D97-AF65-F5344CB8AC3E}">
        <p14:creationId xmlns:p14="http://schemas.microsoft.com/office/powerpoint/2010/main" val="7125371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r>
              <a:rPr lang="en-US" sz="2800" b="1" dirty="0">
                <a:solidFill>
                  <a:srgbClr val="7030A0"/>
                </a:solidFill>
                <a:latin typeface="Arial" panose="020B0604020202020204" pitchFamily="34" charset="0"/>
                <a:cs typeface="Arial" panose="020B0604020202020204" pitchFamily="34" charset="0"/>
              </a:rPr>
              <a:t>Project Outcome</a:t>
            </a: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20</a:t>
            </a:fld>
            <a:endParaRPr lang="en-IN" sz="1200">
              <a:solidFill>
                <a:srgbClr val="898989"/>
              </a:solidFill>
            </a:endParaRPr>
          </a:p>
        </p:txBody>
      </p:sp>
      <p:sp>
        <p:nvSpPr>
          <p:cNvPr id="2" name="Content Placeholder 2">
            <a:extLst>
              <a:ext uri="{FF2B5EF4-FFF2-40B4-BE49-F238E27FC236}">
                <a16:creationId xmlns:a16="http://schemas.microsoft.com/office/drawing/2014/main" id="{2CBC673F-44F0-DB79-2F40-19D137DC5D50}"/>
              </a:ext>
            </a:extLst>
          </p:cNvPr>
          <p:cNvSpPr txBox="1">
            <a:spLocks/>
          </p:cNvSpPr>
          <p:nvPr/>
        </p:nvSpPr>
        <p:spPr>
          <a:xfrm>
            <a:off x="234950" y="1215189"/>
            <a:ext cx="8280400" cy="49617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400" dirty="0"/>
          </a:p>
          <a:p>
            <a:pPr eaLnBrk="0" fontAlgn="base" hangingPunct="0">
              <a:lnSpc>
                <a:spcPct val="150000"/>
              </a:lnSpc>
              <a:spcBef>
                <a:spcPct val="0"/>
              </a:spcBef>
              <a:spcAft>
                <a:spcPct val="0"/>
              </a:spcAft>
            </a:pPr>
            <a:r>
              <a:rPr lang="en-US" sz="1400" dirty="0"/>
              <a:t>Developed an </a:t>
            </a:r>
            <a:r>
              <a:rPr lang="en-US" sz="1400" b="1" dirty="0"/>
              <a:t>AI-driven traffic intelligence framework</a:t>
            </a:r>
            <a:r>
              <a:rPr lang="en-US" sz="1400" dirty="0"/>
              <a:t> capable of predicting congestion with high accuracy </a:t>
            </a:r>
            <a:r>
              <a:rPr lang="en-US" sz="1400" i="1" dirty="0"/>
              <a:t>(R² = 0.93)</a:t>
            </a:r>
            <a:r>
              <a:rPr lang="en-US" sz="1400" dirty="0"/>
              <a:t> using real-world datasets.</a:t>
            </a:r>
          </a:p>
          <a:p>
            <a:pPr eaLnBrk="0" fontAlgn="base" hangingPunct="0">
              <a:lnSpc>
                <a:spcPct val="150000"/>
              </a:lnSpc>
              <a:spcBef>
                <a:spcPct val="0"/>
              </a:spcBef>
              <a:spcAft>
                <a:spcPct val="0"/>
              </a:spcAft>
            </a:pPr>
            <a:r>
              <a:rPr lang="en-US" sz="1400" dirty="0"/>
              <a:t>Successfully implemented a </a:t>
            </a:r>
            <a:r>
              <a:rPr lang="en-US" sz="1400" b="1" dirty="0"/>
              <a:t>quantum-inspired QUBO optimization model</a:t>
            </a:r>
            <a:r>
              <a:rPr lang="en-US" sz="1400" dirty="0"/>
              <a:t> to perform large-scale traffic optimization, handling </a:t>
            </a:r>
            <a:r>
              <a:rPr lang="en-US" sz="1400" b="1" dirty="0"/>
              <a:t>5000+ vehicles simultaneously</a:t>
            </a:r>
            <a:r>
              <a:rPr lang="en-US" sz="1400" dirty="0"/>
              <a:t>.</a:t>
            </a:r>
          </a:p>
          <a:p>
            <a:pPr eaLnBrk="0" fontAlgn="base" hangingPunct="0">
              <a:lnSpc>
                <a:spcPct val="150000"/>
              </a:lnSpc>
              <a:spcBef>
                <a:spcPct val="0"/>
              </a:spcBef>
              <a:spcAft>
                <a:spcPct val="0"/>
              </a:spcAft>
            </a:pPr>
            <a:r>
              <a:rPr lang="en-US" sz="1400" dirty="0"/>
              <a:t>Designed a </a:t>
            </a:r>
            <a:r>
              <a:rPr lang="en-US" sz="1400" b="1" dirty="0"/>
              <a:t>Digital Twin-based traffic simulation environment</a:t>
            </a:r>
            <a:r>
              <a:rPr lang="en-US" sz="1400" dirty="0"/>
              <a:t> for real-time monitoring, analysis, and decision-making.</a:t>
            </a:r>
          </a:p>
          <a:p>
            <a:pPr eaLnBrk="0" fontAlgn="base" hangingPunct="0">
              <a:lnSpc>
                <a:spcPct val="150000"/>
              </a:lnSpc>
              <a:spcBef>
                <a:spcPct val="0"/>
              </a:spcBef>
              <a:spcAft>
                <a:spcPct val="0"/>
              </a:spcAft>
            </a:pPr>
            <a:r>
              <a:rPr lang="en-US" sz="1400" dirty="0"/>
              <a:t>Achieved significant improvement in </a:t>
            </a:r>
            <a:r>
              <a:rPr lang="en-US" sz="1400" b="1" dirty="0"/>
              <a:t>traffic flow efficiency</a:t>
            </a:r>
            <a:r>
              <a:rPr lang="en-US" sz="1400" dirty="0"/>
              <a:t>, reducing congestion levels, waiting time, and fuel consumption.</a:t>
            </a:r>
          </a:p>
          <a:p>
            <a:pPr eaLnBrk="0" fontAlgn="base" hangingPunct="0">
              <a:lnSpc>
                <a:spcPct val="150000"/>
              </a:lnSpc>
              <a:spcBef>
                <a:spcPct val="0"/>
              </a:spcBef>
              <a:spcAft>
                <a:spcPct val="0"/>
              </a:spcAft>
            </a:pPr>
            <a:r>
              <a:rPr lang="en-US" sz="1400" dirty="0"/>
              <a:t>Enabled </a:t>
            </a:r>
            <a:r>
              <a:rPr lang="en-US" sz="1400" b="1" dirty="0"/>
              <a:t>dynamic signal control and intelligent routing</a:t>
            </a:r>
            <a:r>
              <a:rPr lang="en-US" sz="1400" dirty="0"/>
              <a:t>, ensuring adaptive response to real-time traffic conditions.</a:t>
            </a:r>
          </a:p>
          <a:p>
            <a:pPr eaLnBrk="0" fontAlgn="base" hangingPunct="0">
              <a:lnSpc>
                <a:spcPct val="150000"/>
              </a:lnSpc>
              <a:spcBef>
                <a:spcPct val="0"/>
              </a:spcBef>
              <a:spcAft>
                <a:spcPct val="0"/>
              </a:spcAft>
            </a:pPr>
            <a:r>
              <a:rPr lang="en-US" sz="1400" dirty="0"/>
              <a:t>Developed a </a:t>
            </a:r>
            <a:r>
              <a:rPr lang="en-US" sz="1400" b="1" dirty="0"/>
              <a:t>scalable and integrated system architecture</a:t>
            </a:r>
            <a:r>
              <a:rPr lang="en-US" sz="1400" dirty="0"/>
              <a:t> that combines prediction, simulation, and optimization into a unified framework.</a:t>
            </a:r>
            <a:endParaRPr lang="en-IN" sz="1400" b="1" dirty="0"/>
          </a:p>
          <a:p>
            <a:pPr marL="457200" indent="-457200" eaLnBrk="0" fontAlgn="base" hangingPunct="0">
              <a:lnSpc>
                <a:spcPct val="150000"/>
              </a:lnSpc>
              <a:spcBef>
                <a:spcPct val="0"/>
              </a:spcBef>
              <a:spcAft>
                <a:spcPct val="0"/>
              </a:spcAft>
              <a:buAutoNum type="arabicPeriod"/>
            </a:pPr>
            <a:endParaRPr lang="en-IN" sz="1400" dirty="0">
              <a:latin typeface="Arial" panose="020B0604020202020204" pitchFamily="34" charset="0"/>
              <a:cs typeface="Arial" panose="020B0604020202020204" pitchFamily="34" charset="0"/>
            </a:endParaRPr>
          </a:p>
          <a:p>
            <a:pPr marL="457200" indent="-457200" eaLnBrk="0" fontAlgn="base" hangingPunct="0">
              <a:lnSpc>
                <a:spcPct val="150000"/>
              </a:lnSpc>
              <a:spcBef>
                <a:spcPct val="0"/>
              </a:spcBef>
              <a:spcAft>
                <a:spcPct val="0"/>
              </a:spcAft>
              <a:buAutoNum type="arabicPeriod"/>
            </a:pPr>
            <a:endParaRPr lang="en-IN" sz="2400" dirty="0"/>
          </a:p>
          <a:p>
            <a:pPr marL="457200" indent="-457200" eaLnBrk="0" fontAlgn="base" hangingPunct="0">
              <a:lnSpc>
                <a:spcPct val="150000"/>
              </a:lnSpc>
              <a:spcBef>
                <a:spcPct val="0"/>
              </a:spcBef>
              <a:spcAft>
                <a:spcPct val="0"/>
              </a:spcAft>
              <a:buAutoNum type="arabicPeriod"/>
            </a:pPr>
            <a:endParaRPr lang="en-US" sz="2400" dirty="0"/>
          </a:p>
          <a:p>
            <a:pPr marL="0" indent="0">
              <a:lnSpc>
                <a:spcPct val="150000"/>
              </a:lnSpc>
              <a:buNone/>
            </a:pPr>
            <a:endParaRPr lang="en-US" sz="2400" dirty="0"/>
          </a:p>
        </p:txBody>
      </p:sp>
    </p:spTree>
    <p:extLst>
      <p:ext uri="{BB962C8B-B14F-4D97-AF65-F5344CB8AC3E}">
        <p14:creationId xmlns:p14="http://schemas.microsoft.com/office/powerpoint/2010/main" val="294837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r>
              <a:rPr lang="en-US" sz="2800" b="1" dirty="0">
                <a:solidFill>
                  <a:srgbClr val="7030A0"/>
                </a:solidFill>
                <a:latin typeface="Arial" panose="020B0604020202020204" pitchFamily="34" charset="0"/>
                <a:cs typeface="Arial" panose="020B0604020202020204" pitchFamily="34" charset="0"/>
              </a:rPr>
              <a:t>Outcomes - Paper</a:t>
            </a: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r>
              <a:rPr lang="en-IN" sz="1600" b="1" dirty="0">
                <a:latin typeface="Arial" pitchFamily="34" charset="0"/>
                <a:cs typeface="Arial" pitchFamily="34" charset="0"/>
              </a:rPr>
              <a:t>Paper Applied</a:t>
            </a: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21</a:t>
            </a:fld>
            <a:endParaRPr lang="en-IN" sz="1200">
              <a:solidFill>
                <a:srgbClr val="898989"/>
              </a:solidFill>
            </a:endParaRPr>
          </a:p>
        </p:txBody>
      </p:sp>
      <p:pic>
        <p:nvPicPr>
          <p:cNvPr id="4" name="Picture 3">
            <a:extLst>
              <a:ext uri="{FF2B5EF4-FFF2-40B4-BE49-F238E27FC236}">
                <a16:creationId xmlns:a16="http://schemas.microsoft.com/office/drawing/2014/main" id="{DA12A7F3-6027-7870-1E0F-81A6BB0152D6}"/>
              </a:ext>
            </a:extLst>
          </p:cNvPr>
          <p:cNvPicPr>
            <a:picLocks noChangeAspect="1"/>
          </p:cNvPicPr>
          <p:nvPr/>
        </p:nvPicPr>
        <p:blipFill>
          <a:blip r:embed="rId2"/>
          <a:stretch>
            <a:fillRect/>
          </a:stretch>
        </p:blipFill>
        <p:spPr>
          <a:xfrm>
            <a:off x="642938" y="1971925"/>
            <a:ext cx="3586853" cy="3999506"/>
          </a:xfrm>
          <a:prstGeom prst="rect">
            <a:avLst/>
          </a:prstGeom>
        </p:spPr>
      </p:pic>
      <p:pic>
        <p:nvPicPr>
          <p:cNvPr id="6" name="Picture 5">
            <a:extLst>
              <a:ext uri="{FF2B5EF4-FFF2-40B4-BE49-F238E27FC236}">
                <a16:creationId xmlns:a16="http://schemas.microsoft.com/office/drawing/2014/main" id="{B19E65D4-4D19-16F9-951D-E0941C45B992}"/>
              </a:ext>
            </a:extLst>
          </p:cNvPr>
          <p:cNvPicPr>
            <a:picLocks noChangeAspect="1"/>
          </p:cNvPicPr>
          <p:nvPr/>
        </p:nvPicPr>
        <p:blipFill>
          <a:blip r:embed="rId3"/>
          <a:stretch>
            <a:fillRect/>
          </a:stretch>
        </p:blipFill>
        <p:spPr>
          <a:xfrm>
            <a:off x="4532928" y="1971925"/>
            <a:ext cx="3839623" cy="3999506"/>
          </a:xfrm>
          <a:prstGeom prst="rect">
            <a:avLst/>
          </a:prstGeom>
        </p:spPr>
      </p:pic>
    </p:spTree>
    <p:extLst>
      <p:ext uri="{BB962C8B-B14F-4D97-AF65-F5344CB8AC3E}">
        <p14:creationId xmlns:p14="http://schemas.microsoft.com/office/powerpoint/2010/main" val="11797490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4552" y="217025"/>
            <a:ext cx="6777508" cy="639202"/>
          </a:xfrm>
        </p:spPr>
        <p:txBody>
          <a:bodyPr/>
          <a:lstStyle/>
          <a:p>
            <a:br>
              <a:rPr lang="en-IN" sz="2800" b="0" dirty="0">
                <a:solidFill>
                  <a:srgbClr val="660066"/>
                </a:solidFill>
                <a:latin typeface="Arial" panose="020B0604020202020204" pitchFamily="34" charset="0"/>
                <a:cs typeface="Arial" panose="020B0604020202020204" pitchFamily="34" charset="0"/>
              </a:rPr>
            </a:br>
            <a:r>
              <a:rPr lang="en-IN" sz="2800" b="0" dirty="0">
                <a:solidFill>
                  <a:srgbClr val="660066"/>
                </a:solidFill>
                <a:latin typeface="Arial" panose="020B0604020202020204" pitchFamily="34" charset="0"/>
                <a:cs typeface="Arial" panose="020B0604020202020204" pitchFamily="34" charset="0"/>
              </a:rPr>
              <a:t> </a:t>
            </a:r>
            <a:endParaRPr lang="en-IN" sz="2800" dirty="0">
              <a:solidFill>
                <a:srgbClr val="660066"/>
              </a:solidFill>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362857" y="1318327"/>
            <a:ext cx="8418286" cy="5307760"/>
          </a:xfrm>
        </p:spPr>
        <p:txBody>
          <a:bodyPr>
            <a:noAutofit/>
          </a:bodyPr>
          <a:lstStyle/>
          <a:p>
            <a:pPr algn="just">
              <a:lnSpc>
                <a:spcPct val="150000"/>
              </a:lnSpc>
            </a:pPr>
            <a:r>
              <a:rPr lang="en-US" sz="1600" b="1" dirty="0">
                <a:latin typeface="Arial" panose="020B0604020202020204" pitchFamily="34" charset="0"/>
                <a:cs typeface="Arial" panose="020B0604020202020204" pitchFamily="34" charset="0"/>
              </a:rPr>
              <a:t>Reason for Mapping: </a:t>
            </a:r>
          </a:p>
          <a:p>
            <a:pPr algn="just">
              <a:lnSpc>
                <a:spcPct val="150000"/>
              </a:lnSpc>
            </a:pPr>
            <a:r>
              <a:rPr lang="en-US" sz="1600" dirty="0">
                <a:latin typeface="Arial" panose="020B0604020202020204" pitchFamily="34" charset="0"/>
                <a:cs typeface="Arial" panose="020B0604020202020204" pitchFamily="34" charset="0"/>
              </a:rPr>
              <a:t>SDG 11 This project is associated with SDG 11 because it focuses on improving urban transportation and traffic management systems. By using AI and digital twin technology, the system reduces traffic congestion, travel time and fuel consumption. This leads to better urban mobility, reduced pollution and improved quality of life in cities making them more sustainable and efficient. It supports the development of smart cities by integrating advanced technologies like AI and digital twin. This project also helps in reducing traffic accidents and improves road safety through better traffic flow management. </a:t>
            </a:r>
            <a:endParaRPr lang="en-IN" sz="1600" dirty="0">
              <a:solidFill>
                <a:srgbClr val="002060"/>
              </a:solidFill>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r>
              <a:rPr lang="en-IN" dirty="0"/>
              <a:t>16-04-2026</a:t>
            </a:r>
          </a:p>
        </p:txBody>
      </p:sp>
      <p:sp>
        <p:nvSpPr>
          <p:cNvPr id="5" name="Footer Placeholder 4"/>
          <p:cNvSpPr>
            <a:spLocks noGrp="1"/>
          </p:cNvSpPr>
          <p:nvPr>
            <p:ph type="ftr" sz="quarter" idx="11"/>
          </p:nvPr>
        </p:nvSpPr>
        <p:spPr/>
        <p:txBody>
          <a:bodyPr/>
          <a:lstStyle/>
          <a:p>
            <a:r>
              <a:rPr lang="en-US" b="1" dirty="0"/>
              <a:t>SREC-ECE</a:t>
            </a:r>
            <a:endParaRPr lang="en-IN" b="1" dirty="0"/>
          </a:p>
        </p:txBody>
      </p:sp>
      <p:sp>
        <p:nvSpPr>
          <p:cNvPr id="6" name="Slide Number Placeholder 5"/>
          <p:cNvSpPr>
            <a:spLocks noGrp="1"/>
          </p:cNvSpPr>
          <p:nvPr>
            <p:ph type="sldNum" sz="quarter" idx="12"/>
          </p:nvPr>
        </p:nvSpPr>
        <p:spPr/>
        <p:txBody>
          <a:bodyPr/>
          <a:lstStyle/>
          <a:p>
            <a:r>
              <a:rPr lang="en-US" dirty="0"/>
              <a:t>3</a:t>
            </a:r>
            <a:endParaRPr lang="en-IN" dirty="0"/>
          </a:p>
        </p:txBody>
      </p:sp>
      <p:sp>
        <p:nvSpPr>
          <p:cNvPr id="7" name="Rectangle 6"/>
          <p:cNvSpPr/>
          <p:nvPr/>
        </p:nvSpPr>
        <p:spPr>
          <a:xfrm>
            <a:off x="1516487" y="292009"/>
            <a:ext cx="6111025" cy="523220"/>
          </a:xfrm>
          <a:prstGeom prst="rect">
            <a:avLst/>
          </a:prstGeom>
        </p:spPr>
        <p:txBody>
          <a:bodyPr wrap="square">
            <a:spAutoFit/>
          </a:bodyPr>
          <a:lstStyle/>
          <a:p>
            <a:pPr algn="ctr"/>
            <a:r>
              <a:rPr lang="en-IN" sz="2800" dirty="0">
                <a:solidFill>
                  <a:srgbClr val="660066"/>
                </a:solidFill>
                <a:latin typeface="Arial" panose="020B0604020202020204" pitchFamily="34" charset="0"/>
                <a:cs typeface="Arial" panose="020B0604020202020204" pitchFamily="34" charset="0"/>
              </a:rPr>
              <a:t>SDG Goals</a:t>
            </a:r>
          </a:p>
        </p:txBody>
      </p:sp>
    </p:spTree>
    <p:extLst>
      <p:ext uri="{BB962C8B-B14F-4D97-AF65-F5344CB8AC3E}">
        <p14:creationId xmlns:p14="http://schemas.microsoft.com/office/powerpoint/2010/main" val="10325451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pPr eaLnBrk="1" hangingPunct="1"/>
            <a:r>
              <a:rPr lang="en-US" sz="2800" b="1" dirty="0">
                <a:solidFill>
                  <a:srgbClr val="7030A0"/>
                </a:solidFill>
                <a:latin typeface="Arial" panose="020B0604020202020204" pitchFamily="34" charset="0"/>
                <a:cs typeface="Arial" panose="020B0604020202020204" pitchFamily="34" charset="0"/>
              </a:rPr>
              <a:t>References </a:t>
            </a:r>
            <a:endParaRPr lang="en-IN" sz="2800" b="1" dirty="0">
              <a:solidFill>
                <a:srgbClr val="7030A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31800" y="1428750"/>
            <a:ext cx="8280400" cy="3008312"/>
          </a:xfrm>
        </p:spPr>
        <p:txBody>
          <a:bodyPr rtlCol="0">
            <a:normAutofit fontScale="25000" lnSpcReduction="20000"/>
          </a:bodyPr>
          <a:lstStyle/>
          <a:p>
            <a:pPr marL="0" indent="0" algn="just">
              <a:lnSpc>
                <a:spcPct val="150000"/>
              </a:lnSpc>
              <a:buNone/>
            </a:pPr>
            <a:r>
              <a:rPr lang="en-US" sz="6400" dirty="0">
                <a:latin typeface="Arial" panose="020B0604020202020204" pitchFamily="34" charset="0"/>
                <a:cs typeface="Arial" panose="020B0604020202020204" pitchFamily="34" charset="0"/>
              </a:rPr>
              <a:t>[1] C. Chen, Y. Zhang, and L. Li, “Traffic Congestion Prediction Based on GPS Data,” </a:t>
            </a:r>
            <a:r>
              <a:rPr lang="en-US" sz="6400" i="1" dirty="0">
                <a:latin typeface="Arial" panose="020B0604020202020204" pitchFamily="34" charset="0"/>
                <a:cs typeface="Arial" panose="020B0604020202020204" pitchFamily="34" charset="0"/>
              </a:rPr>
              <a:t>Journal of Transportation Engineering</a:t>
            </a:r>
            <a:r>
              <a:rPr lang="en-US" sz="6400" dirty="0">
                <a:latin typeface="Arial" panose="020B0604020202020204" pitchFamily="34" charset="0"/>
                <a:cs typeface="Arial" panose="020B0604020202020204" pitchFamily="34" charset="0"/>
              </a:rPr>
              <a:t>, vol. 12, no. 12, pp. 157–168, 2022.</a:t>
            </a:r>
          </a:p>
          <a:p>
            <a:pPr marL="0" indent="0" algn="just">
              <a:lnSpc>
                <a:spcPct val="150000"/>
              </a:lnSpc>
              <a:buNone/>
            </a:pPr>
            <a:r>
              <a:rPr lang="en-US" sz="6400" dirty="0">
                <a:latin typeface="Arial" panose="020B0604020202020204" pitchFamily="34" charset="0"/>
                <a:cs typeface="Arial" panose="020B0604020202020204" pitchFamily="34" charset="0"/>
              </a:rPr>
              <a:t>[2] M. M. Rathore, A. Ahmad, A. Paul, and S. Rho, “Smart Traffic Control Using Fog Devices,” </a:t>
            </a:r>
            <a:r>
              <a:rPr lang="en-US" sz="6400" i="1" dirty="0">
                <a:latin typeface="Arial" panose="020B0604020202020204" pitchFamily="34" charset="0"/>
                <a:cs typeface="Arial" panose="020B0604020202020204" pitchFamily="34" charset="0"/>
              </a:rPr>
              <a:t>Sustainable Cities and Society</a:t>
            </a:r>
            <a:r>
              <a:rPr lang="en-US" sz="6400" dirty="0">
                <a:latin typeface="Arial" panose="020B0604020202020204" pitchFamily="34" charset="0"/>
                <a:cs typeface="Arial" panose="020B0604020202020204" pitchFamily="34" charset="0"/>
              </a:rPr>
              <a:t>, vol. 65, 2021.</a:t>
            </a:r>
          </a:p>
          <a:p>
            <a:pPr marL="0" indent="0" algn="just">
              <a:lnSpc>
                <a:spcPct val="150000"/>
              </a:lnSpc>
              <a:buNone/>
            </a:pPr>
            <a:r>
              <a:rPr lang="en-US" sz="6400" dirty="0">
                <a:latin typeface="Arial" panose="020B0604020202020204" pitchFamily="34" charset="0"/>
                <a:cs typeface="Arial" panose="020B0604020202020204" pitchFamily="34" charset="0"/>
              </a:rPr>
              <a:t>[3] M. Ashkanani, M. </a:t>
            </a:r>
            <a:r>
              <a:rPr lang="en-US" sz="6400" dirty="0" err="1">
                <a:latin typeface="Arial" panose="020B0604020202020204" pitchFamily="34" charset="0"/>
                <a:cs typeface="Arial" panose="020B0604020202020204" pitchFamily="34" charset="0"/>
              </a:rPr>
              <a:t>Alenezi</a:t>
            </a:r>
            <a:r>
              <a:rPr lang="en-US" sz="6400" dirty="0">
                <a:latin typeface="Arial" panose="020B0604020202020204" pitchFamily="34" charset="0"/>
                <a:cs typeface="Arial" panose="020B0604020202020204" pitchFamily="34" charset="0"/>
              </a:rPr>
              <a:t>, and A. </a:t>
            </a:r>
            <a:r>
              <a:rPr lang="en-US" sz="6400" dirty="0" err="1">
                <a:latin typeface="Arial" panose="020B0604020202020204" pitchFamily="34" charset="0"/>
                <a:cs typeface="Arial" panose="020B0604020202020204" pitchFamily="34" charset="0"/>
              </a:rPr>
              <a:t>Alanzi</a:t>
            </a:r>
            <a:r>
              <a:rPr lang="en-US" sz="6400" dirty="0">
                <a:latin typeface="Arial" panose="020B0604020202020204" pitchFamily="34" charset="0"/>
                <a:cs typeface="Arial" panose="020B0604020202020204" pitchFamily="34" charset="0"/>
              </a:rPr>
              <a:t>, “Self-Adaptive Traffic Signal System with Vehicle Detection,” </a:t>
            </a:r>
            <a:r>
              <a:rPr lang="en-US" sz="6400" i="1" dirty="0">
                <a:latin typeface="Arial" panose="020B0604020202020204" pitchFamily="34" charset="0"/>
                <a:cs typeface="Arial" panose="020B0604020202020204" pitchFamily="34" charset="0"/>
              </a:rPr>
              <a:t>Inventions</a:t>
            </a:r>
            <a:r>
              <a:rPr lang="en-US" sz="6400" dirty="0">
                <a:latin typeface="Arial" panose="020B0604020202020204" pitchFamily="34" charset="0"/>
                <a:cs typeface="Arial" panose="020B0604020202020204" pitchFamily="34" charset="0"/>
              </a:rPr>
              <a:t>, 2025.</a:t>
            </a:r>
          </a:p>
          <a:p>
            <a:pPr marL="0" indent="0" algn="just">
              <a:lnSpc>
                <a:spcPct val="150000"/>
              </a:lnSpc>
              <a:buNone/>
            </a:pPr>
            <a:r>
              <a:rPr lang="en-US" sz="6400" dirty="0">
                <a:latin typeface="Arial" panose="020B0604020202020204" pitchFamily="34" charset="0"/>
                <a:cs typeface="Arial" panose="020B0604020202020204" pitchFamily="34" charset="0"/>
              </a:rPr>
              <a:t>[4] D. Dede, A. Ozdemir, and M. Baykara, “AI-Assisted Traffic Violation Detection,” </a:t>
            </a:r>
            <a:r>
              <a:rPr lang="en-US" sz="6400" i="1" dirty="0" err="1">
                <a:latin typeface="Arial" panose="020B0604020202020204" pitchFamily="34" charset="0"/>
                <a:cs typeface="Arial" panose="020B0604020202020204" pitchFamily="34" charset="0"/>
              </a:rPr>
              <a:t>arXiv</a:t>
            </a:r>
            <a:r>
              <a:rPr lang="en-US" sz="6400" i="1" dirty="0">
                <a:latin typeface="Arial" panose="020B0604020202020204" pitchFamily="34" charset="0"/>
                <a:cs typeface="Arial" panose="020B0604020202020204" pitchFamily="34" charset="0"/>
              </a:rPr>
              <a:t> preprint</a:t>
            </a:r>
            <a:r>
              <a:rPr lang="en-US" sz="6400" dirty="0">
                <a:latin typeface="Arial" panose="020B0604020202020204" pitchFamily="34" charset="0"/>
                <a:cs typeface="Arial" panose="020B0604020202020204" pitchFamily="34" charset="0"/>
              </a:rPr>
              <a:t>, 2023.</a:t>
            </a:r>
          </a:p>
          <a:p>
            <a:pPr marL="0" indent="0" algn="just">
              <a:lnSpc>
                <a:spcPct val="150000"/>
              </a:lnSpc>
              <a:buNone/>
            </a:pPr>
            <a:r>
              <a:rPr lang="en-US" sz="6400" dirty="0">
                <a:latin typeface="Arial" panose="020B0604020202020204" pitchFamily="34" charset="0"/>
                <a:cs typeface="Arial" panose="020B0604020202020204" pitchFamily="34" charset="0"/>
              </a:rPr>
              <a:t>[5] S. Sharma, A. Gupta, and R. Mehta, “Traffic Surveillance Using R-CNN,” </a:t>
            </a:r>
            <a:r>
              <a:rPr lang="en-US" sz="6400" i="1" dirty="0">
                <a:latin typeface="Arial" panose="020B0604020202020204" pitchFamily="34" charset="0"/>
                <a:cs typeface="Arial" panose="020B0604020202020204" pitchFamily="34" charset="0"/>
              </a:rPr>
              <a:t>International Journal of Computer Vision</a:t>
            </a:r>
            <a:r>
              <a:rPr lang="en-US" sz="6400" dirty="0">
                <a:latin typeface="Arial" panose="020B0604020202020204" pitchFamily="34" charset="0"/>
                <a:cs typeface="Arial" panose="020B0604020202020204" pitchFamily="34" charset="0"/>
              </a:rPr>
              <a:t>, 2020.</a:t>
            </a:r>
          </a:p>
          <a:p>
            <a:pPr marL="0" indent="0" algn="just" eaLnBrk="1" fontAlgn="auto" hangingPunct="1">
              <a:lnSpc>
                <a:spcPct val="150000"/>
              </a:lnSpc>
              <a:spcAft>
                <a:spcPts val="0"/>
              </a:spcAft>
              <a:buFont typeface="Arial" panose="020B0604020202020204" pitchFamily="34" charset="0"/>
              <a:buNone/>
              <a:defRPr/>
            </a:pPr>
            <a:endParaRPr lang="en-IN" sz="49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23</a:t>
            </a:fld>
            <a:endParaRPr lang="en-IN" sz="1200">
              <a:solidFill>
                <a:srgbClr val="898989"/>
              </a:solidFill>
            </a:endParaRPr>
          </a:p>
        </p:txBody>
      </p:sp>
    </p:spTree>
    <p:extLst>
      <p:ext uri="{BB962C8B-B14F-4D97-AF65-F5344CB8AC3E}">
        <p14:creationId xmlns:p14="http://schemas.microsoft.com/office/powerpoint/2010/main" val="161189185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3797</TotalTime>
  <Words>1584</Words>
  <Application>Microsoft Office PowerPoint</Application>
  <PresentationFormat>On-screen Show (4:3)</PresentationFormat>
  <Paragraphs>255</Paragraphs>
  <Slides>23</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Times New Roman</vt:lpstr>
      <vt:lpstr>Office Theme</vt:lpstr>
      <vt:lpstr>PowerPoint Presentation</vt:lpstr>
      <vt:lpstr>  </vt:lpstr>
      <vt:lpstr>  </vt:lpstr>
      <vt:lpstr>  </vt:lpstr>
      <vt:lpstr>  </vt:lpstr>
      <vt:lpstr>Literature Survey - 01</vt:lpstr>
      <vt:lpstr>Literature Survey - 02</vt:lpstr>
      <vt:lpstr>Literature Survey - 03</vt:lpstr>
      <vt:lpstr>Literature Survey - 04</vt:lpstr>
      <vt:lpstr>Literature Survey - 05</vt:lpstr>
      <vt:lpstr>Existing technology of the project</vt:lpstr>
      <vt:lpstr>Existing technology of the project</vt:lpstr>
      <vt:lpstr>Methodology adopted</vt:lpstr>
      <vt:lpstr>Technical feasibility</vt:lpstr>
      <vt:lpstr>Design &amp; Experimentation</vt:lpstr>
      <vt:lpstr>Design &amp; Experimentation</vt:lpstr>
      <vt:lpstr>Results</vt:lpstr>
      <vt:lpstr>Results</vt:lpstr>
      <vt:lpstr>Results</vt:lpstr>
      <vt:lpstr>Project Outcome</vt:lpstr>
      <vt:lpstr>Outcomes - Paper</vt:lpstr>
      <vt:lpstr>  </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COIN</dc:creator>
  <cp:lastModifiedBy>Manisha K</cp:lastModifiedBy>
  <cp:revision>165</cp:revision>
  <dcterms:created xsi:type="dcterms:W3CDTF">2025-12-18T09:03:03Z</dcterms:created>
  <dcterms:modified xsi:type="dcterms:W3CDTF">2026-04-14T04:30:13Z</dcterms:modified>
</cp:coreProperties>
</file>